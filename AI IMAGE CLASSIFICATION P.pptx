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1.svg" ContentType="image/svg+xml"/>
  <Override PartName="/ppt/media/image2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8288000" cy="10287000"/>
  <p:notesSz cx="6858000" cy="9144000"/>
  <p:embeddedFontLst>
    <p:embeddedFont>
      <p:font typeface="Arapey Bold" panose="02000000000000000000"/>
      <p:regular r:id="rId20"/>
      <p:bold r:id="rId21"/>
    </p:embeddedFont>
    <p:embeddedFont>
      <p:font typeface="Poppins" panose="00000500000000000000"/>
      <p:regular r:id="rId22"/>
    </p:embeddedFont>
    <p:embeddedFont>
      <p:font typeface="Poppins Bold" panose="00000800000000000000"/>
      <p:bold r:id="rId23"/>
    </p:embeddedFont>
    <p:embeddedFont>
      <p:font typeface="Calibri" panose="020F050202020403020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12.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4.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519367" y="-352343"/>
            <a:ext cx="10991686" cy="10991686"/>
          </a:xfrm>
          <a:custGeom>
            <a:avLst/>
            <a:gdLst/>
            <a:ahLst/>
            <a:cxnLst/>
            <a:rect l="l" t="t" r="r" b="b"/>
            <a:pathLst>
              <a:path w="10991686" h="10991686">
                <a:moveTo>
                  <a:pt x="0" y="0"/>
                </a:moveTo>
                <a:lnTo>
                  <a:pt x="10991686" y="0"/>
                </a:lnTo>
                <a:lnTo>
                  <a:pt x="10991686" y="10991686"/>
                </a:lnTo>
                <a:lnTo>
                  <a:pt x="0" y="10991686"/>
                </a:lnTo>
                <a:lnTo>
                  <a:pt x="0" y="0"/>
                </a:lnTo>
                <a:close/>
              </a:path>
            </a:pathLst>
          </a:custGeom>
          <a:blipFill>
            <a:blip r:embed="rId2">
              <a:alphaModFix amt="49000"/>
            </a:blip>
            <a:stretch>
              <a:fillRect/>
            </a:stretch>
          </a:blipFill>
        </p:spPr>
      </p:sp>
      <p:sp>
        <p:nvSpPr>
          <p:cNvPr id="4" name="Freeform 4"/>
          <p:cNvSpPr/>
          <p:nvPr/>
        </p:nvSpPr>
        <p:spPr>
          <a:xfrm>
            <a:off x="2012386" y="3447475"/>
            <a:ext cx="2797197" cy="2746339"/>
          </a:xfrm>
          <a:custGeom>
            <a:avLst/>
            <a:gdLst/>
            <a:ahLst/>
            <a:cxnLst/>
            <a:rect l="l" t="t" r="r" b="b"/>
            <a:pathLst>
              <a:path w="2797197" h="2746339">
                <a:moveTo>
                  <a:pt x="0" y="0"/>
                </a:moveTo>
                <a:lnTo>
                  <a:pt x="2797197" y="0"/>
                </a:lnTo>
                <a:lnTo>
                  <a:pt x="2797197" y="2746339"/>
                </a:lnTo>
                <a:lnTo>
                  <a:pt x="0" y="2746339"/>
                </a:lnTo>
                <a:lnTo>
                  <a:pt x="0" y="0"/>
                </a:lnTo>
                <a:close/>
              </a:path>
            </a:pathLst>
          </a:custGeom>
          <a:blipFill>
            <a:blip r:embed="rId3">
              <a:alphaModFix amt="26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5388179" y="2667158"/>
            <a:ext cx="7112352" cy="3174424"/>
          </a:xfrm>
          <a:prstGeom prst="rect">
            <a:avLst/>
          </a:prstGeom>
        </p:spPr>
        <p:txBody>
          <a:bodyPr lIns="0" tIns="0" rIns="0" bIns="0" rtlCol="0" anchor="t">
            <a:spAutoFit/>
          </a:bodyPr>
          <a:lstStyle/>
          <a:p>
            <a:pPr algn="ctr">
              <a:lnSpc>
                <a:spcPts val="12710"/>
              </a:lnSpc>
              <a:spcBef>
                <a:spcPct val="0"/>
              </a:spcBef>
            </a:pPr>
            <a:r>
              <a:rPr lang="en-US" sz="9080">
                <a:solidFill>
                  <a:srgbClr val="FFFFFF"/>
                </a:solidFill>
                <a:latin typeface="RQND Pro" panose="00000500000000000000"/>
                <a:ea typeface="RQND Pro" panose="00000500000000000000"/>
                <a:cs typeface="RQND Pro" panose="00000500000000000000"/>
                <a:sym typeface="RQND Pro" panose="00000500000000000000"/>
              </a:rPr>
              <a:t> Image Classification</a:t>
            </a:r>
            <a:endParaRPr lang="en-US" sz="9080">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6" name="TextBox 6"/>
          <p:cNvSpPr txBox="1"/>
          <p:nvPr/>
        </p:nvSpPr>
        <p:spPr>
          <a:xfrm>
            <a:off x="3627122" y="6489089"/>
            <a:ext cx="11033755" cy="1906852"/>
          </a:xfrm>
          <a:prstGeom prst="rect">
            <a:avLst/>
          </a:prstGeom>
        </p:spPr>
        <p:txBody>
          <a:bodyPr lIns="0" tIns="0" rIns="0" bIns="0" rtlCol="0" anchor="t">
            <a:spAutoFit/>
          </a:bodyPr>
          <a:lstStyle/>
          <a:p>
            <a:pPr algn="ctr">
              <a:lnSpc>
                <a:spcPts val="3045"/>
              </a:lnSpc>
            </a:pPr>
            <a:r>
              <a:rPr lang="en-US" sz="2175" spc="1741">
                <a:solidFill>
                  <a:srgbClr val="FFFFFF"/>
                </a:solidFill>
                <a:latin typeface="Arapey Bold" panose="02000000000000000000"/>
                <a:ea typeface="Arapey Bold" panose="02000000000000000000"/>
                <a:cs typeface="Arapey Bold" panose="02000000000000000000"/>
                <a:sym typeface="Arapey Bold" panose="02000000000000000000"/>
              </a:rPr>
              <a:t>GROUP MEMBERS:</a:t>
            </a:r>
            <a:endParaRPr lang="en-US" sz="2175" spc="1741">
              <a:solidFill>
                <a:srgbClr val="FFFFFF"/>
              </a:solidFill>
              <a:latin typeface="Arapey Bold" panose="02000000000000000000"/>
              <a:ea typeface="Arapey Bold" panose="02000000000000000000"/>
              <a:cs typeface="Arapey Bold" panose="02000000000000000000"/>
              <a:sym typeface="Arapey Bold" panose="02000000000000000000"/>
            </a:endParaRPr>
          </a:p>
          <a:p>
            <a:pPr algn="ctr">
              <a:lnSpc>
                <a:spcPts val="3045"/>
              </a:lnSpc>
              <a:spcBef>
                <a:spcPct val="0"/>
              </a:spcBef>
            </a:pPr>
            <a:r>
              <a:rPr lang="en-US" sz="2175" spc="1741">
                <a:solidFill>
                  <a:srgbClr val="FFFFFF"/>
                </a:solidFill>
                <a:latin typeface="Arapey Bold" panose="02000000000000000000"/>
                <a:ea typeface="Arapey Bold" panose="02000000000000000000"/>
                <a:cs typeface="Arapey Bold" panose="02000000000000000000"/>
                <a:sym typeface="Arapey Bold" panose="02000000000000000000"/>
              </a:rPr>
              <a:t>PRATHMESH BATHAM-16010122014</a:t>
            </a:r>
            <a:endParaRPr lang="en-US" sz="2175" spc="1741">
              <a:solidFill>
                <a:srgbClr val="FFFFFF"/>
              </a:solidFill>
              <a:latin typeface="Arapey Bold" panose="02000000000000000000"/>
              <a:ea typeface="Arapey Bold" panose="02000000000000000000"/>
              <a:cs typeface="Arapey Bold" panose="02000000000000000000"/>
              <a:sym typeface="Arapey Bold" panose="02000000000000000000"/>
            </a:endParaRPr>
          </a:p>
          <a:p>
            <a:pPr algn="ctr">
              <a:lnSpc>
                <a:spcPts val="3045"/>
              </a:lnSpc>
              <a:spcBef>
                <a:spcPct val="0"/>
              </a:spcBef>
            </a:pPr>
            <a:r>
              <a:rPr lang="en-US" sz="2175" spc="1741">
                <a:solidFill>
                  <a:srgbClr val="FFFFFF"/>
                </a:solidFill>
                <a:latin typeface="Arapey Bold" panose="02000000000000000000"/>
                <a:ea typeface="Arapey Bold" panose="02000000000000000000"/>
                <a:cs typeface="Arapey Bold" panose="02000000000000000000"/>
                <a:sym typeface="Arapey Bold" panose="02000000000000000000"/>
              </a:rPr>
              <a:t>KUNJ GOHIL-16010122060</a:t>
            </a:r>
            <a:endParaRPr lang="en-US" sz="2175" spc="1741">
              <a:solidFill>
                <a:srgbClr val="FFFFFF"/>
              </a:solidFill>
              <a:latin typeface="Arapey Bold" panose="02000000000000000000"/>
              <a:ea typeface="Arapey Bold" panose="02000000000000000000"/>
              <a:cs typeface="Arapey Bold" panose="02000000000000000000"/>
              <a:sym typeface="Arapey Bold" panose="02000000000000000000"/>
            </a:endParaRPr>
          </a:p>
          <a:p>
            <a:pPr algn="ctr">
              <a:lnSpc>
                <a:spcPts val="3045"/>
              </a:lnSpc>
              <a:spcBef>
                <a:spcPct val="0"/>
              </a:spcBef>
            </a:pPr>
            <a:r>
              <a:rPr lang="en-US" sz="2175" spc="1741">
                <a:solidFill>
                  <a:srgbClr val="FFFFFF"/>
                </a:solidFill>
                <a:latin typeface="Arapey Bold" panose="02000000000000000000"/>
                <a:ea typeface="Arapey Bold" panose="02000000000000000000"/>
                <a:cs typeface="Arapey Bold" panose="02000000000000000000"/>
                <a:sym typeface="Arapey Bold" panose="02000000000000000000"/>
              </a:rPr>
              <a:t>AVNISHJOSHI-16010122073</a:t>
            </a:r>
            <a:endParaRPr lang="en-US" sz="2175" spc="1741">
              <a:solidFill>
                <a:srgbClr val="FFFFFF"/>
              </a:solidFill>
              <a:latin typeface="Arapey Bold" panose="02000000000000000000"/>
              <a:ea typeface="Arapey Bold" panose="02000000000000000000"/>
              <a:cs typeface="Arapey Bold" panose="02000000000000000000"/>
              <a:sym typeface="Arapey Bold" panose="02000000000000000000"/>
            </a:endParaRPr>
          </a:p>
          <a:p>
            <a:pPr algn="ctr">
              <a:lnSpc>
                <a:spcPts val="3045"/>
              </a:lnSpc>
              <a:spcBef>
                <a:spcPct val="0"/>
              </a:spcBef>
            </a:pPr>
            <a:r>
              <a:rPr lang="en-US" sz="2175" spc="1741">
                <a:solidFill>
                  <a:srgbClr val="FFFFFF"/>
                </a:solidFill>
                <a:latin typeface="Arapey Bold" panose="02000000000000000000"/>
                <a:ea typeface="Arapey Bold" panose="02000000000000000000"/>
                <a:cs typeface="Arapey Bold" panose="02000000000000000000"/>
                <a:sym typeface="Arapey Bold" panose="02000000000000000000"/>
              </a:rPr>
              <a:t>RAAHI JOSHI-16010122075</a:t>
            </a:r>
            <a:endParaRPr lang="en-US" sz="2175" spc="1741">
              <a:solidFill>
                <a:srgbClr val="FFFFFF"/>
              </a:solidFill>
              <a:latin typeface="Arapey Bold" panose="02000000000000000000"/>
              <a:ea typeface="Arapey Bold" panose="02000000000000000000"/>
              <a:cs typeface="Arapey Bold" panose="02000000000000000000"/>
              <a:sym typeface="Arapey Bold" panose="02000000000000000000"/>
            </a:endParaRPr>
          </a:p>
        </p:txBody>
      </p:sp>
      <p:sp>
        <p:nvSpPr>
          <p:cNvPr id="7" name="TextBox 7"/>
          <p:cNvSpPr txBox="1"/>
          <p:nvPr/>
        </p:nvSpPr>
        <p:spPr>
          <a:xfrm>
            <a:off x="4976476" y="1625369"/>
            <a:ext cx="7524055" cy="870533"/>
          </a:xfrm>
          <a:prstGeom prst="rect">
            <a:avLst/>
          </a:prstGeom>
        </p:spPr>
        <p:txBody>
          <a:bodyPr lIns="0" tIns="0" rIns="0" bIns="0" rtlCol="0" anchor="t">
            <a:spAutoFit/>
          </a:bodyPr>
          <a:lstStyle/>
          <a:p>
            <a:pPr algn="ctr">
              <a:lnSpc>
                <a:spcPts val="3465"/>
              </a:lnSpc>
              <a:spcBef>
                <a:spcPct val="0"/>
              </a:spcBef>
            </a:pPr>
            <a:r>
              <a:rPr lang="en-US" sz="2475" spc="899">
                <a:solidFill>
                  <a:srgbClr val="FFFFFF"/>
                </a:solidFill>
                <a:latin typeface="RQND Pro Medium" panose="00000500000000000000"/>
                <a:ea typeface="RQND Pro Medium" panose="00000500000000000000"/>
                <a:cs typeface="RQND Pro Medium" panose="00000500000000000000"/>
                <a:sym typeface="RQND Pro Medium" panose="00000500000000000000"/>
              </a:rPr>
              <a:t>TITLE: IMPLEMENTATION OF CURRENT TRENDS IN AI</a:t>
            </a:r>
            <a:endParaRPr lang="en-US" sz="2475" spc="899">
              <a:solidFill>
                <a:srgbClr val="FFFFFF"/>
              </a:solidFill>
              <a:latin typeface="RQND Pro Medium" panose="00000500000000000000"/>
              <a:ea typeface="RQND Pro Medium" panose="00000500000000000000"/>
              <a:cs typeface="RQND Pro Medium" panose="00000500000000000000"/>
              <a:sym typeface="RQND Pro Medium" panose="00000500000000000000"/>
            </a:endParaRPr>
          </a:p>
        </p:txBody>
      </p:sp>
      <p:pic>
        <p:nvPicPr>
          <p:cNvPr id="8" name="Picture 7"/>
          <p:cNvPicPr>
            <a:picLocks noChangeAspect="1"/>
          </p:cNvPicPr>
          <p:nvPr/>
        </p:nvPicPr>
        <p:blipFill>
          <a:blip r:embed="rId5"/>
          <a:stretch>
            <a:fillRect/>
          </a:stretch>
        </p:blipFill>
        <p:spPr>
          <a:xfrm>
            <a:off x="0" y="38100"/>
            <a:ext cx="2914650" cy="962025"/>
          </a:xfrm>
          <a:prstGeom prst="rect">
            <a:avLst/>
          </a:prstGeom>
        </p:spPr>
      </p:pic>
      <p:pic>
        <p:nvPicPr>
          <p:cNvPr id="9" name="Picture 8"/>
          <p:cNvPicPr>
            <a:picLocks noChangeAspect="1"/>
          </p:cNvPicPr>
          <p:nvPr/>
        </p:nvPicPr>
        <p:blipFill>
          <a:blip r:embed="rId6"/>
          <a:stretch>
            <a:fillRect/>
          </a:stretch>
        </p:blipFill>
        <p:spPr>
          <a:xfrm>
            <a:off x="17373600" y="0"/>
            <a:ext cx="904875" cy="6762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10437498" y="-560877"/>
            <a:ext cx="10753446" cy="10753446"/>
          </a:xfrm>
          <a:custGeom>
            <a:avLst/>
            <a:gdLst/>
            <a:ahLst/>
            <a:cxnLst/>
            <a:rect l="l" t="t" r="r" b="b"/>
            <a:pathLst>
              <a:path w="10753446" h="10753446">
                <a:moveTo>
                  <a:pt x="0" y="0"/>
                </a:moveTo>
                <a:lnTo>
                  <a:pt x="10753447" y="0"/>
                </a:lnTo>
                <a:lnTo>
                  <a:pt x="10753447" y="10753447"/>
                </a:lnTo>
                <a:lnTo>
                  <a:pt x="0" y="10753447"/>
                </a:lnTo>
                <a:lnTo>
                  <a:pt x="0" y="0"/>
                </a:lnTo>
                <a:close/>
              </a:path>
            </a:pathLst>
          </a:custGeom>
          <a:blipFill>
            <a:blip r:embed="rId2">
              <a:alphaModFix amt="14000"/>
            </a:blip>
            <a:stretch>
              <a:fillRect/>
            </a:stretch>
          </a:blipFill>
        </p:spPr>
      </p:sp>
      <p:sp>
        <p:nvSpPr>
          <p:cNvPr id="4" name="Freeform 4"/>
          <p:cNvSpPr/>
          <p:nvPr/>
        </p:nvSpPr>
        <p:spPr>
          <a:xfrm>
            <a:off x="7595513" y="6538662"/>
            <a:ext cx="3096974" cy="5857161"/>
          </a:xfrm>
          <a:custGeom>
            <a:avLst/>
            <a:gdLst/>
            <a:ahLst/>
            <a:cxnLst/>
            <a:rect l="l" t="t" r="r" b="b"/>
            <a:pathLst>
              <a:path w="3096974" h="5857161">
                <a:moveTo>
                  <a:pt x="0" y="0"/>
                </a:moveTo>
                <a:lnTo>
                  <a:pt x="3096974" y="0"/>
                </a:lnTo>
                <a:lnTo>
                  <a:pt x="3096974" y="5857160"/>
                </a:lnTo>
                <a:lnTo>
                  <a:pt x="0" y="5857160"/>
                </a:lnTo>
                <a:lnTo>
                  <a:pt x="0" y="0"/>
                </a:lnTo>
                <a:close/>
              </a:path>
            </a:pathLst>
          </a:custGeom>
          <a:blipFill>
            <a:blip r:embed="rId3"/>
            <a:stretch>
              <a:fillRect/>
            </a:stretch>
          </a:blipFill>
        </p:spPr>
      </p:sp>
      <p:sp>
        <p:nvSpPr>
          <p:cNvPr id="5" name="Freeform 5"/>
          <p:cNvSpPr/>
          <p:nvPr/>
        </p:nvSpPr>
        <p:spPr>
          <a:xfrm>
            <a:off x="1444170" y="2791470"/>
            <a:ext cx="2797197" cy="2746339"/>
          </a:xfrm>
          <a:custGeom>
            <a:avLst/>
            <a:gdLst/>
            <a:ahLst/>
            <a:cxnLst/>
            <a:rect l="l" t="t" r="r" b="b"/>
            <a:pathLst>
              <a:path w="2797197" h="2746339">
                <a:moveTo>
                  <a:pt x="0" y="0"/>
                </a:moveTo>
                <a:lnTo>
                  <a:pt x="2797197" y="0"/>
                </a:lnTo>
                <a:lnTo>
                  <a:pt x="2797197" y="2746338"/>
                </a:lnTo>
                <a:lnTo>
                  <a:pt x="0" y="2746338"/>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695056" y="510512"/>
            <a:ext cx="16897888" cy="2280957"/>
          </a:xfrm>
          <a:prstGeom prst="rect">
            <a:avLst/>
          </a:prstGeom>
        </p:spPr>
        <p:txBody>
          <a:bodyPr lIns="0" tIns="0" rIns="0" bIns="0" rtlCol="0" anchor="t">
            <a:spAutoFit/>
          </a:bodyPr>
          <a:lstStyle/>
          <a:p>
            <a:pPr algn="ctr">
              <a:lnSpc>
                <a:spcPts val="18650"/>
              </a:lnSpc>
              <a:spcBef>
                <a:spcPct val="0"/>
              </a:spcBef>
            </a:pPr>
            <a:r>
              <a:rPr lang="en-US" sz="13325">
                <a:solidFill>
                  <a:srgbClr val="FFFFFF"/>
                </a:solidFill>
                <a:latin typeface="RQND Pro" panose="00000500000000000000"/>
                <a:ea typeface="RQND Pro" panose="00000500000000000000"/>
                <a:cs typeface="RQND Pro" panose="00000500000000000000"/>
                <a:sym typeface="RQND Pro" panose="00000500000000000000"/>
              </a:rPr>
              <a:t>PROBLEM DEFINITION</a:t>
            </a:r>
            <a:endParaRPr lang="en-US" sz="13325">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7" name="TextBox 7"/>
          <p:cNvSpPr txBox="1"/>
          <p:nvPr/>
        </p:nvSpPr>
        <p:spPr>
          <a:xfrm>
            <a:off x="1935734" y="2591554"/>
            <a:ext cx="14416531" cy="3947108"/>
          </a:xfrm>
          <a:prstGeom prst="rect">
            <a:avLst/>
          </a:prstGeom>
        </p:spPr>
        <p:txBody>
          <a:bodyPr lIns="0" tIns="0" rIns="0" bIns="0" rtlCol="0" anchor="t">
            <a:spAutoFit/>
          </a:bodyPr>
          <a:lstStyle/>
          <a:p>
            <a:pPr algn="ctr">
              <a:lnSpc>
                <a:spcPts val="3465"/>
              </a:lnSpc>
              <a:spcBef>
                <a:spcPct val="0"/>
              </a:spcBef>
            </a:pPr>
            <a:r>
              <a:rPr lang="en-US" sz="2475">
                <a:solidFill>
                  <a:srgbClr val="FFFFFF"/>
                </a:solidFill>
                <a:latin typeface="Poppins" panose="00000500000000000000"/>
                <a:ea typeface="Poppins" panose="00000500000000000000"/>
                <a:cs typeface="Poppins" panose="00000500000000000000"/>
                <a:sym typeface="Poppins" panose="00000500000000000000"/>
              </a:rPr>
              <a:t>In today's digital world, the ability to automatically recognize and classify images has become crucial across various fields such as healthcare, automotive, security, and social media. The objective of this project is to develop an AI-based image classification system that allows users to upload an image and automatically predicts the category or label it belongs to. The system must be capable of handling variations in image quality, orientation, and background, and should deliver accurate and reliable predictions. By implementing this, we aim to demonstrate how machine learning models, particularly Convolutional Neural Networks (CNNs), can be used to automate the process of visual recognition and classification tasks efficiently.</a:t>
            </a:r>
            <a:endParaRPr lang="en-US" sz="247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8" name="TextBox 8"/>
          <p:cNvSpPr txBox="1"/>
          <p:nvPr/>
        </p:nvSpPr>
        <p:spPr>
          <a:xfrm>
            <a:off x="16388820" y="8757924"/>
            <a:ext cx="1229733" cy="895978"/>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RQND Pro" panose="00000500000000000000"/>
                <a:ea typeface="RQND Pro" panose="00000500000000000000"/>
                <a:cs typeface="RQND Pro" panose="00000500000000000000"/>
                <a:sym typeface="RQND Pro" panose="00000500000000000000"/>
              </a:rPr>
              <a:t>02</a:t>
            </a:r>
            <a:endParaRPr lang="en-US" sz="5200">
              <a:solidFill>
                <a:srgbClr val="FFFFFF"/>
              </a:solidFill>
              <a:latin typeface="RQND Pro" panose="00000500000000000000"/>
              <a:ea typeface="RQND Pro" panose="00000500000000000000"/>
              <a:cs typeface="RQND Pro" panose="00000500000000000000"/>
              <a:sym typeface="RQND Pro" panose="00000500000000000000"/>
            </a:endParaRPr>
          </a:p>
        </p:txBody>
      </p:sp>
      <p:pic>
        <p:nvPicPr>
          <p:cNvPr id="9" name="Picture 8"/>
          <p:cNvPicPr>
            <a:picLocks noChangeAspect="1"/>
          </p:cNvPicPr>
          <p:nvPr/>
        </p:nvPicPr>
        <p:blipFill>
          <a:blip r:embed="rId6"/>
          <a:stretch>
            <a:fillRect/>
          </a:stretch>
        </p:blipFill>
        <p:spPr>
          <a:xfrm>
            <a:off x="76200" y="38100"/>
            <a:ext cx="2914650" cy="962025"/>
          </a:xfrm>
          <a:prstGeom prst="rect">
            <a:avLst/>
          </a:prstGeom>
        </p:spPr>
      </p:pic>
      <p:pic>
        <p:nvPicPr>
          <p:cNvPr id="10" name="Picture 9"/>
          <p:cNvPicPr>
            <a:picLocks noChangeAspect="1"/>
          </p:cNvPicPr>
          <p:nvPr/>
        </p:nvPicPr>
        <p:blipFill>
          <a:blip r:embed="rId7"/>
          <a:stretch>
            <a:fillRect/>
          </a:stretch>
        </p:blipFill>
        <p:spPr>
          <a:xfrm>
            <a:off x="17297400" y="38100"/>
            <a:ext cx="904875" cy="6762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5651117" y="1111981"/>
            <a:ext cx="10737703" cy="8063039"/>
          </a:xfrm>
          <a:custGeom>
            <a:avLst/>
            <a:gdLst/>
            <a:ahLst/>
            <a:cxnLst/>
            <a:rect l="l" t="t" r="r" b="b"/>
            <a:pathLst>
              <a:path w="10737703" h="8063039">
                <a:moveTo>
                  <a:pt x="0" y="0"/>
                </a:moveTo>
                <a:lnTo>
                  <a:pt x="10737703" y="0"/>
                </a:lnTo>
                <a:lnTo>
                  <a:pt x="10737703" y="8063038"/>
                </a:lnTo>
                <a:lnTo>
                  <a:pt x="0" y="80630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28989" y="766676"/>
            <a:ext cx="2797197" cy="2746339"/>
          </a:xfrm>
          <a:custGeom>
            <a:avLst/>
            <a:gdLst/>
            <a:ahLst/>
            <a:cxnLst/>
            <a:rect l="l" t="t" r="r" b="b"/>
            <a:pathLst>
              <a:path w="2797197" h="2746339">
                <a:moveTo>
                  <a:pt x="0" y="0"/>
                </a:moveTo>
                <a:lnTo>
                  <a:pt x="2797197" y="0"/>
                </a:lnTo>
                <a:lnTo>
                  <a:pt x="2797197" y="2746339"/>
                </a:lnTo>
                <a:lnTo>
                  <a:pt x="0" y="2746339"/>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sp>
      <p:sp>
        <p:nvSpPr>
          <p:cNvPr id="5" name="Freeform 5"/>
          <p:cNvSpPr/>
          <p:nvPr/>
        </p:nvSpPr>
        <p:spPr>
          <a:xfrm>
            <a:off x="858097" y="1952229"/>
            <a:ext cx="5935599" cy="8229600"/>
          </a:xfrm>
          <a:custGeom>
            <a:avLst/>
            <a:gdLst/>
            <a:ahLst/>
            <a:cxnLst/>
            <a:rect l="l" t="t" r="r" b="b"/>
            <a:pathLst>
              <a:path w="5935599" h="8229600">
                <a:moveTo>
                  <a:pt x="0" y="0"/>
                </a:moveTo>
                <a:lnTo>
                  <a:pt x="5935599" y="0"/>
                </a:lnTo>
                <a:lnTo>
                  <a:pt x="5935599" y="8229600"/>
                </a:lnTo>
                <a:lnTo>
                  <a:pt x="0" y="8229600"/>
                </a:lnTo>
                <a:lnTo>
                  <a:pt x="0" y="0"/>
                </a:lnTo>
                <a:close/>
              </a:path>
            </a:pathLst>
          </a:custGeom>
          <a:blipFill>
            <a:blip r:embed="rId6"/>
            <a:stretch>
              <a:fillRect/>
            </a:stretch>
          </a:blipFill>
        </p:spPr>
      </p:sp>
      <p:sp>
        <p:nvSpPr>
          <p:cNvPr id="6" name="TextBox 6"/>
          <p:cNvSpPr txBox="1"/>
          <p:nvPr/>
        </p:nvSpPr>
        <p:spPr>
          <a:xfrm>
            <a:off x="6839761" y="2787545"/>
            <a:ext cx="8935562" cy="1085759"/>
          </a:xfrm>
          <a:prstGeom prst="rect">
            <a:avLst/>
          </a:prstGeom>
        </p:spPr>
        <p:txBody>
          <a:bodyPr lIns="0" tIns="0" rIns="0" bIns="0" rtlCol="0" anchor="t">
            <a:spAutoFit/>
          </a:bodyPr>
          <a:lstStyle/>
          <a:p>
            <a:pPr algn="ctr">
              <a:lnSpc>
                <a:spcPts val="6845"/>
              </a:lnSpc>
            </a:pPr>
            <a:r>
              <a:rPr lang="en-US" sz="11405">
                <a:solidFill>
                  <a:srgbClr val="FFFFFF"/>
                </a:solidFill>
                <a:latin typeface="RQND Pro" panose="00000500000000000000"/>
                <a:ea typeface="RQND Pro" panose="00000500000000000000"/>
                <a:cs typeface="RQND Pro" panose="00000500000000000000"/>
                <a:sym typeface="RQND Pro" panose="00000500000000000000"/>
              </a:rPr>
              <a:t>Objectives</a:t>
            </a:r>
            <a:endParaRPr lang="en-US" sz="11405">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7" name="TextBox 7"/>
          <p:cNvSpPr txBox="1"/>
          <p:nvPr/>
        </p:nvSpPr>
        <p:spPr>
          <a:xfrm>
            <a:off x="16388820" y="8757924"/>
            <a:ext cx="1229733" cy="895978"/>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RQND Pro" panose="00000500000000000000"/>
                <a:ea typeface="RQND Pro" panose="00000500000000000000"/>
                <a:cs typeface="RQND Pro" panose="00000500000000000000"/>
                <a:sym typeface="RQND Pro" panose="00000500000000000000"/>
              </a:rPr>
              <a:t>03</a:t>
            </a:r>
            <a:endParaRPr lang="en-US" sz="5200">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8" name="TextBox 8"/>
          <p:cNvSpPr txBox="1"/>
          <p:nvPr/>
        </p:nvSpPr>
        <p:spPr>
          <a:xfrm>
            <a:off x="7263290" y="4167407"/>
            <a:ext cx="8088505" cy="2744418"/>
          </a:xfrm>
          <a:prstGeom prst="rect">
            <a:avLst/>
          </a:prstGeom>
        </p:spPr>
        <p:txBody>
          <a:bodyPr lIns="0" tIns="0" rIns="0" bIns="0" rtlCol="0" anchor="t">
            <a:spAutoFit/>
          </a:bodyPr>
          <a:lstStyle/>
          <a:p>
            <a:pPr marL="556260" lvl="1" indent="-278130" algn="ctr">
              <a:lnSpc>
                <a:spcPts val="3605"/>
              </a:lnSpc>
              <a:buFont typeface="Arial" panose="020B0604020202020204"/>
              <a:buChar char="•"/>
            </a:pPr>
            <a:r>
              <a:rPr lang="en-US" sz="2575">
                <a:solidFill>
                  <a:srgbClr val="FFFFFF"/>
                </a:solidFill>
                <a:latin typeface="Poppins" panose="00000500000000000000"/>
                <a:ea typeface="Poppins" panose="00000500000000000000"/>
                <a:cs typeface="Poppins" panose="00000500000000000000"/>
                <a:sym typeface="Poppins" panose="00000500000000000000"/>
              </a:rPr>
              <a:t>Implement an image classification system.</a:t>
            </a:r>
            <a:endParaRPr lang="en-US" sz="2575">
              <a:solidFill>
                <a:srgbClr val="FFFFFF"/>
              </a:solidFill>
              <a:latin typeface="Poppins" panose="00000500000000000000"/>
              <a:ea typeface="Poppins" panose="00000500000000000000"/>
              <a:cs typeface="Poppins" panose="00000500000000000000"/>
              <a:sym typeface="Poppins" panose="00000500000000000000"/>
            </a:endParaRPr>
          </a:p>
          <a:p>
            <a:pPr marL="556260" lvl="1" indent="-278130" algn="ctr">
              <a:lnSpc>
                <a:spcPts val="3605"/>
              </a:lnSpc>
              <a:buFont typeface="Arial" panose="020B0604020202020204"/>
              <a:buChar char="•"/>
            </a:pPr>
            <a:r>
              <a:rPr lang="en-US" sz="2575">
                <a:solidFill>
                  <a:srgbClr val="FFFFFF"/>
                </a:solidFill>
                <a:latin typeface="Poppins" panose="00000500000000000000"/>
                <a:ea typeface="Poppins" panose="00000500000000000000"/>
                <a:cs typeface="Poppins" panose="00000500000000000000"/>
                <a:sym typeface="Poppins" panose="00000500000000000000"/>
              </a:rPr>
              <a:t>Allow users to upload an image and receive a predicted label.</a:t>
            </a:r>
            <a:endParaRPr lang="en-US" sz="2575">
              <a:solidFill>
                <a:srgbClr val="FFFFFF"/>
              </a:solidFill>
              <a:latin typeface="Poppins" panose="00000500000000000000"/>
              <a:ea typeface="Poppins" panose="00000500000000000000"/>
              <a:cs typeface="Poppins" panose="00000500000000000000"/>
              <a:sym typeface="Poppins" panose="00000500000000000000"/>
            </a:endParaRPr>
          </a:p>
          <a:p>
            <a:pPr marL="556260" lvl="1" indent="-278130" algn="ctr">
              <a:lnSpc>
                <a:spcPts val="3605"/>
              </a:lnSpc>
              <a:buFont typeface="Arial" panose="020B0604020202020204"/>
              <a:buChar char="•"/>
            </a:pPr>
            <a:r>
              <a:rPr lang="en-US" sz="2575">
                <a:solidFill>
                  <a:srgbClr val="FFFFFF"/>
                </a:solidFill>
                <a:latin typeface="Poppins" panose="00000500000000000000"/>
                <a:ea typeface="Poppins" panose="00000500000000000000"/>
                <a:cs typeface="Poppins" panose="00000500000000000000"/>
                <a:sym typeface="Poppins" panose="00000500000000000000"/>
              </a:rPr>
              <a:t>Use a standard dataset for training the model.</a:t>
            </a:r>
            <a:endParaRPr lang="en-US" sz="2575">
              <a:solidFill>
                <a:srgbClr val="FFFFFF"/>
              </a:solidFill>
              <a:latin typeface="Poppins" panose="00000500000000000000"/>
              <a:ea typeface="Poppins" panose="00000500000000000000"/>
              <a:cs typeface="Poppins" panose="00000500000000000000"/>
              <a:sym typeface="Poppins" panose="00000500000000000000"/>
            </a:endParaRPr>
          </a:p>
          <a:p>
            <a:pPr algn="ctr">
              <a:lnSpc>
                <a:spcPts val="3605"/>
              </a:lnSpc>
              <a:spcBef>
                <a:spcPct val="0"/>
              </a:spcBef>
            </a:pPr>
          </a:p>
        </p:txBody>
      </p:sp>
      <p:pic>
        <p:nvPicPr>
          <p:cNvPr id="9" name="Picture 8"/>
          <p:cNvPicPr>
            <a:picLocks noChangeAspect="1"/>
          </p:cNvPicPr>
          <p:nvPr/>
        </p:nvPicPr>
        <p:blipFill>
          <a:blip r:embed="rId7"/>
          <a:stretch>
            <a:fillRect/>
          </a:stretch>
        </p:blipFill>
        <p:spPr>
          <a:xfrm>
            <a:off x="0" y="38100"/>
            <a:ext cx="2914650" cy="962025"/>
          </a:xfrm>
          <a:prstGeom prst="rect">
            <a:avLst/>
          </a:prstGeom>
        </p:spPr>
      </p:pic>
      <p:pic>
        <p:nvPicPr>
          <p:cNvPr id="10" name="Picture 9"/>
          <p:cNvPicPr>
            <a:picLocks noChangeAspect="1"/>
          </p:cNvPicPr>
          <p:nvPr/>
        </p:nvPicPr>
        <p:blipFill>
          <a:blip r:embed="rId8"/>
          <a:stretch>
            <a:fillRect/>
          </a:stretch>
        </p:blipFill>
        <p:spPr>
          <a:xfrm>
            <a:off x="17373600" y="0"/>
            <a:ext cx="904875" cy="6762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208438" y="647700"/>
            <a:ext cx="8935562" cy="1088201"/>
          </a:xfrm>
          <a:prstGeom prst="rect">
            <a:avLst/>
          </a:prstGeom>
        </p:spPr>
        <p:txBody>
          <a:bodyPr lIns="0" tIns="0" rIns="0" bIns="0" rtlCol="0" anchor="t">
            <a:spAutoFit/>
          </a:bodyPr>
          <a:lstStyle/>
          <a:p>
            <a:pPr algn="l">
              <a:lnSpc>
                <a:spcPts val="6845"/>
              </a:lnSpc>
            </a:pPr>
            <a:r>
              <a:rPr lang="en-US" sz="11405">
                <a:solidFill>
                  <a:srgbClr val="FFFFFF"/>
                </a:solidFill>
                <a:latin typeface="RQND Pro" panose="00000500000000000000"/>
                <a:ea typeface="RQND Pro" panose="00000500000000000000"/>
                <a:cs typeface="RQND Pro" panose="00000500000000000000"/>
                <a:sym typeface="RQND Pro" panose="00000500000000000000"/>
              </a:rPr>
              <a:t>DATASET USED</a:t>
            </a:r>
            <a:endParaRPr lang="en-US" sz="11405">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4" name="TextBox 4"/>
          <p:cNvSpPr txBox="1"/>
          <p:nvPr/>
        </p:nvSpPr>
        <p:spPr>
          <a:xfrm>
            <a:off x="1563265" y="8757924"/>
            <a:ext cx="1229733" cy="895978"/>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RQND Pro" panose="00000500000000000000"/>
                <a:ea typeface="RQND Pro" panose="00000500000000000000"/>
                <a:cs typeface="RQND Pro" panose="00000500000000000000"/>
                <a:sym typeface="RQND Pro" panose="00000500000000000000"/>
              </a:rPr>
              <a:t>04</a:t>
            </a:r>
            <a:endParaRPr lang="en-US" sz="5200">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5" name="Freeform 5"/>
          <p:cNvSpPr/>
          <p:nvPr/>
        </p:nvSpPr>
        <p:spPr>
          <a:xfrm>
            <a:off x="-4199" y="4643432"/>
            <a:ext cx="2797197" cy="2746339"/>
          </a:xfrm>
          <a:custGeom>
            <a:avLst/>
            <a:gdLst/>
            <a:ahLst/>
            <a:cxnLst/>
            <a:rect l="l" t="t" r="r" b="b"/>
            <a:pathLst>
              <a:path w="2797197" h="2746339">
                <a:moveTo>
                  <a:pt x="0" y="0"/>
                </a:moveTo>
                <a:lnTo>
                  <a:pt x="2797197" y="0"/>
                </a:lnTo>
                <a:lnTo>
                  <a:pt x="2797197" y="2746338"/>
                </a:lnTo>
                <a:lnTo>
                  <a:pt x="0" y="2746338"/>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08438" y="1790062"/>
            <a:ext cx="18079562" cy="6592576"/>
          </a:xfrm>
          <a:prstGeom prst="rect">
            <a:avLst/>
          </a:prstGeom>
        </p:spPr>
        <p:txBody>
          <a:bodyPr lIns="0" tIns="0" rIns="0" bIns="0" rtlCol="0" anchor="t">
            <a:spAutoFit/>
          </a:bodyPr>
          <a:lstStyle/>
          <a:p>
            <a:pPr algn="l">
              <a:lnSpc>
                <a:spcPts val="5180"/>
              </a:lnSpc>
              <a:spcBef>
                <a:spcPct val="0"/>
              </a:spcBef>
            </a:pPr>
            <a:r>
              <a:rPr lang="en-US" sz="3700">
                <a:solidFill>
                  <a:srgbClr val="FFFFFF"/>
                </a:solidFill>
                <a:latin typeface="Poppins" panose="00000500000000000000"/>
                <a:ea typeface="Poppins" panose="00000500000000000000"/>
                <a:cs typeface="Poppins" panose="00000500000000000000"/>
                <a:sym typeface="Poppins" panose="00000500000000000000"/>
              </a:rPr>
              <a:t>Dataset Name: CIFAR-10</a:t>
            </a:r>
            <a:endParaRPr lang="en-US" sz="37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5180"/>
              </a:lnSpc>
              <a:spcBef>
                <a:spcPct val="0"/>
              </a:spcBef>
            </a:pPr>
            <a:r>
              <a:rPr lang="en-US" sz="3700">
                <a:solidFill>
                  <a:srgbClr val="FFFFFF"/>
                </a:solidFill>
                <a:latin typeface="Poppins" panose="00000500000000000000"/>
                <a:ea typeface="Poppins" panose="00000500000000000000"/>
                <a:cs typeface="Poppins" panose="00000500000000000000"/>
                <a:sym typeface="Poppins" panose="00000500000000000000"/>
              </a:rPr>
              <a:t>Source: Canadian Institute for Advanced Research (CIFAR)</a:t>
            </a:r>
            <a:endParaRPr lang="en-US" sz="37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5180"/>
              </a:lnSpc>
              <a:spcBef>
                <a:spcPct val="0"/>
              </a:spcBef>
            </a:pPr>
            <a:r>
              <a:rPr lang="en-US" sz="3700">
                <a:solidFill>
                  <a:srgbClr val="FFFFFF"/>
                </a:solidFill>
                <a:latin typeface="Poppins" panose="00000500000000000000"/>
                <a:ea typeface="Poppins" panose="00000500000000000000"/>
                <a:cs typeface="Poppins" panose="00000500000000000000"/>
                <a:sym typeface="Poppins" panose="00000500000000000000"/>
              </a:rPr>
              <a:t>Description: 60,000 color images of size 32x32 pixels</a:t>
            </a:r>
            <a:endParaRPr lang="en-US" sz="37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5180"/>
              </a:lnSpc>
              <a:spcBef>
                <a:spcPct val="0"/>
              </a:spcBef>
            </a:pPr>
            <a:r>
              <a:rPr lang="en-US" sz="3700">
                <a:solidFill>
                  <a:srgbClr val="FFFFFF"/>
                </a:solidFill>
                <a:latin typeface="Poppins" panose="00000500000000000000"/>
                <a:ea typeface="Poppins" panose="00000500000000000000"/>
                <a:cs typeface="Poppins" panose="00000500000000000000"/>
                <a:sym typeface="Poppins" panose="00000500000000000000"/>
              </a:rPr>
              <a:t>Classes: 10 categories (airplane, automobile, bird, cat, deer, dog, frog, horse, ship, truck)</a:t>
            </a:r>
            <a:endParaRPr lang="en-US" sz="37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5180"/>
              </a:lnSpc>
              <a:spcBef>
                <a:spcPct val="0"/>
              </a:spcBef>
            </a:pPr>
            <a:r>
              <a:rPr lang="en-US" sz="3700">
                <a:solidFill>
                  <a:srgbClr val="FFFFFF"/>
                </a:solidFill>
                <a:latin typeface="Poppins" panose="00000500000000000000"/>
                <a:ea typeface="Poppins" panose="00000500000000000000"/>
                <a:cs typeface="Poppins" panose="00000500000000000000"/>
                <a:sym typeface="Poppins" panose="00000500000000000000"/>
              </a:rPr>
              <a:t>Training Set: 50,000 images</a:t>
            </a:r>
            <a:endParaRPr lang="en-US" sz="37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5180"/>
              </a:lnSpc>
              <a:spcBef>
                <a:spcPct val="0"/>
              </a:spcBef>
            </a:pPr>
            <a:r>
              <a:rPr lang="en-US" sz="3700">
                <a:solidFill>
                  <a:srgbClr val="FFFFFF"/>
                </a:solidFill>
                <a:latin typeface="Poppins" panose="00000500000000000000"/>
                <a:ea typeface="Poppins" panose="00000500000000000000"/>
                <a:cs typeface="Poppins" panose="00000500000000000000"/>
                <a:sym typeface="Poppins" panose="00000500000000000000"/>
              </a:rPr>
              <a:t>Testing Set: 10,000 images</a:t>
            </a:r>
            <a:endParaRPr lang="en-US" sz="37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5180"/>
              </a:lnSpc>
              <a:spcBef>
                <a:spcPct val="0"/>
              </a:spcBef>
            </a:pPr>
            <a:r>
              <a:rPr lang="en-US" sz="3700">
                <a:solidFill>
                  <a:srgbClr val="FFFFFF"/>
                </a:solidFill>
                <a:latin typeface="Poppins" panose="00000500000000000000"/>
                <a:ea typeface="Poppins" panose="00000500000000000000"/>
                <a:cs typeface="Poppins" panose="00000500000000000000"/>
                <a:sym typeface="Poppins" panose="00000500000000000000"/>
              </a:rPr>
              <a:t>Purpose: Benchmark dataset for training machine learning and computer vision models</a:t>
            </a:r>
            <a:endParaRPr lang="en-US" sz="370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5180"/>
              </a:lnSpc>
              <a:spcBef>
                <a:spcPct val="0"/>
              </a:spcBef>
            </a:pPr>
            <a:r>
              <a:rPr lang="en-US" sz="3700">
                <a:solidFill>
                  <a:srgbClr val="FFFFFF"/>
                </a:solidFill>
                <a:latin typeface="Poppins" panose="00000500000000000000"/>
                <a:ea typeface="Poppins" panose="00000500000000000000"/>
                <a:cs typeface="Poppins" panose="00000500000000000000"/>
                <a:sym typeface="Poppins" panose="00000500000000000000"/>
              </a:rPr>
              <a:t>Link: https://www.cs.toronto.edu/~kriz/cifar.html</a:t>
            </a:r>
            <a:endParaRPr lang="en-US" sz="3700">
              <a:solidFill>
                <a:srgbClr val="FFFFFF"/>
              </a:solidFill>
              <a:latin typeface="Poppins" panose="00000500000000000000"/>
              <a:ea typeface="Poppins" panose="00000500000000000000"/>
              <a:cs typeface="Poppins" panose="00000500000000000000"/>
              <a:sym typeface="Poppins" panose="00000500000000000000"/>
            </a:endParaRPr>
          </a:p>
        </p:txBody>
      </p:sp>
      <p:pic>
        <p:nvPicPr>
          <p:cNvPr id="7" name="Picture 6"/>
          <p:cNvPicPr>
            <a:picLocks noChangeAspect="1"/>
          </p:cNvPicPr>
          <p:nvPr/>
        </p:nvPicPr>
        <p:blipFill>
          <a:blip r:embed="rId4"/>
          <a:stretch>
            <a:fillRect/>
          </a:stretch>
        </p:blipFill>
        <p:spPr>
          <a:xfrm>
            <a:off x="0" y="-37465"/>
            <a:ext cx="1997710" cy="659130"/>
          </a:xfrm>
          <a:prstGeom prst="rect">
            <a:avLst/>
          </a:prstGeom>
        </p:spPr>
      </p:pic>
      <p:pic>
        <p:nvPicPr>
          <p:cNvPr id="8" name="Picture 7"/>
          <p:cNvPicPr>
            <a:picLocks noChangeAspect="1"/>
          </p:cNvPicPr>
          <p:nvPr/>
        </p:nvPicPr>
        <p:blipFill>
          <a:blip r:embed="rId5"/>
          <a:stretch>
            <a:fillRect/>
          </a:stretch>
        </p:blipFill>
        <p:spPr>
          <a:xfrm>
            <a:off x="17297400" y="38735"/>
            <a:ext cx="904875" cy="6762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2372856" y="0"/>
            <a:ext cx="9023070" cy="10312080"/>
          </a:xfrm>
          <a:custGeom>
            <a:avLst/>
            <a:gdLst/>
            <a:ahLst/>
            <a:cxnLst/>
            <a:rect l="l" t="t" r="r" b="b"/>
            <a:pathLst>
              <a:path w="9023070" h="10312080">
                <a:moveTo>
                  <a:pt x="0" y="0"/>
                </a:moveTo>
                <a:lnTo>
                  <a:pt x="9023070" y="0"/>
                </a:lnTo>
                <a:lnTo>
                  <a:pt x="9023070" y="10312080"/>
                </a:lnTo>
                <a:lnTo>
                  <a:pt x="0" y="10312080"/>
                </a:lnTo>
                <a:lnTo>
                  <a:pt x="0" y="0"/>
                </a:lnTo>
                <a:close/>
              </a:path>
            </a:pathLst>
          </a:custGeom>
          <a:blipFill>
            <a:blip r:embed="rId2"/>
            <a:stretch>
              <a:fillRect/>
            </a:stretch>
          </a:blipFill>
        </p:spPr>
      </p:sp>
      <p:sp>
        <p:nvSpPr>
          <p:cNvPr id="4" name="Freeform 4"/>
          <p:cNvSpPr/>
          <p:nvPr/>
        </p:nvSpPr>
        <p:spPr>
          <a:xfrm>
            <a:off x="15125139" y="4441838"/>
            <a:ext cx="2797197" cy="2746339"/>
          </a:xfrm>
          <a:custGeom>
            <a:avLst/>
            <a:gdLst/>
            <a:ahLst/>
            <a:cxnLst/>
            <a:rect l="l" t="t" r="r" b="b"/>
            <a:pathLst>
              <a:path w="2797197" h="2746339">
                <a:moveTo>
                  <a:pt x="0" y="0"/>
                </a:moveTo>
                <a:lnTo>
                  <a:pt x="2797197" y="0"/>
                </a:lnTo>
                <a:lnTo>
                  <a:pt x="2797197" y="2746339"/>
                </a:lnTo>
                <a:lnTo>
                  <a:pt x="0" y="2746339"/>
                </a:lnTo>
                <a:lnTo>
                  <a:pt x="0" y="0"/>
                </a:lnTo>
                <a:close/>
              </a:path>
            </a:pathLst>
          </a:custGeom>
          <a:blipFill>
            <a:blip r:embed="rId3">
              <a:alphaModFix amt="26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601084" y="647700"/>
            <a:ext cx="12385080" cy="1954976"/>
          </a:xfrm>
          <a:prstGeom prst="rect">
            <a:avLst/>
          </a:prstGeom>
        </p:spPr>
        <p:txBody>
          <a:bodyPr lIns="0" tIns="0" rIns="0" bIns="0" rtlCol="0" anchor="t">
            <a:spAutoFit/>
          </a:bodyPr>
          <a:lstStyle/>
          <a:p>
            <a:pPr algn="l">
              <a:lnSpc>
                <a:spcPts val="6845"/>
              </a:lnSpc>
            </a:pPr>
            <a:r>
              <a:rPr lang="en-US" sz="11405">
                <a:solidFill>
                  <a:srgbClr val="FFFFFF"/>
                </a:solidFill>
                <a:latin typeface="RQND Pro" panose="00000500000000000000"/>
                <a:ea typeface="RQND Pro" panose="00000500000000000000"/>
                <a:cs typeface="RQND Pro" panose="00000500000000000000"/>
                <a:sym typeface="RQND Pro" panose="00000500000000000000"/>
              </a:rPr>
              <a:t>TOOLS, LIBRARIES, AND APIS USED</a:t>
            </a:r>
            <a:endParaRPr lang="en-US" sz="11405">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6" name="TextBox 6"/>
          <p:cNvSpPr txBox="1"/>
          <p:nvPr/>
        </p:nvSpPr>
        <p:spPr>
          <a:xfrm>
            <a:off x="16388820" y="8757924"/>
            <a:ext cx="1229733" cy="895978"/>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RQND Pro" panose="00000500000000000000"/>
                <a:ea typeface="RQND Pro" panose="00000500000000000000"/>
                <a:cs typeface="RQND Pro" panose="00000500000000000000"/>
                <a:sym typeface="RQND Pro" panose="00000500000000000000"/>
              </a:rPr>
              <a:t>05</a:t>
            </a:r>
            <a:endParaRPr lang="en-US" sz="5200">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7" name="TextBox 7"/>
          <p:cNvSpPr txBox="1"/>
          <p:nvPr/>
        </p:nvSpPr>
        <p:spPr>
          <a:xfrm>
            <a:off x="7601084" y="3164192"/>
            <a:ext cx="6606878" cy="3872890"/>
          </a:xfrm>
          <a:prstGeom prst="rect">
            <a:avLst/>
          </a:prstGeom>
        </p:spPr>
        <p:txBody>
          <a:bodyPr lIns="0" tIns="0" rIns="0" bIns="0" rtlCol="0" anchor="t">
            <a:spAutoFit/>
          </a:bodyPr>
          <a:lstStyle/>
          <a:p>
            <a:pPr algn="l">
              <a:lnSpc>
                <a:spcPts val="4410"/>
              </a:lnSpc>
              <a:spcBef>
                <a:spcPct val="0"/>
              </a:spcBef>
            </a:pPr>
            <a:r>
              <a:rPr lang="en-US" sz="3150" b="1">
                <a:solidFill>
                  <a:srgbClr val="FFFFFF"/>
                </a:solidFill>
                <a:latin typeface="Poppins Bold" panose="00000800000000000000"/>
                <a:ea typeface="Poppins Bold" panose="00000800000000000000"/>
                <a:cs typeface="Poppins Bold" panose="00000800000000000000"/>
                <a:sym typeface="Poppins Bold" panose="00000800000000000000"/>
              </a:rPr>
              <a:t>Programming Languag</a:t>
            </a:r>
            <a:r>
              <a:rPr lang="en-US" sz="3150">
                <a:solidFill>
                  <a:srgbClr val="FFFFFF"/>
                </a:solidFill>
                <a:latin typeface="Poppins" panose="00000500000000000000"/>
                <a:ea typeface="Poppins" panose="00000500000000000000"/>
                <a:cs typeface="Poppins" panose="00000500000000000000"/>
                <a:sym typeface="Poppins" panose="00000500000000000000"/>
              </a:rPr>
              <a:t>e: Python</a:t>
            </a:r>
            <a:endParaRPr lang="en-US" sz="315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4410"/>
              </a:lnSpc>
              <a:spcBef>
                <a:spcPct val="0"/>
              </a:spcBef>
            </a:pPr>
            <a:r>
              <a:rPr lang="en-US" sz="3150" b="1">
                <a:solidFill>
                  <a:srgbClr val="FFFFFF"/>
                </a:solidFill>
                <a:latin typeface="Poppins Bold" panose="00000800000000000000"/>
                <a:ea typeface="Poppins Bold" panose="00000800000000000000"/>
                <a:cs typeface="Poppins Bold" panose="00000800000000000000"/>
                <a:sym typeface="Poppins Bold" panose="00000800000000000000"/>
              </a:rPr>
              <a:t>Libraries</a:t>
            </a:r>
            <a:r>
              <a:rPr lang="en-US" sz="3150">
                <a:solidFill>
                  <a:srgbClr val="FFFFFF"/>
                </a:solidFill>
                <a:latin typeface="Poppins" panose="00000500000000000000"/>
                <a:ea typeface="Poppins" panose="00000500000000000000"/>
                <a:cs typeface="Poppins" panose="00000500000000000000"/>
                <a:sym typeface="Poppins" panose="00000500000000000000"/>
              </a:rPr>
              <a:t>:</a:t>
            </a:r>
            <a:endParaRPr lang="en-US" sz="315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4410"/>
              </a:lnSpc>
              <a:spcBef>
                <a:spcPct val="0"/>
              </a:spcBef>
            </a:pPr>
            <a:r>
              <a:rPr lang="en-US" sz="3150">
                <a:solidFill>
                  <a:srgbClr val="FFFFFF"/>
                </a:solidFill>
                <a:latin typeface="Poppins" panose="00000500000000000000"/>
                <a:ea typeface="Poppins" panose="00000500000000000000"/>
                <a:cs typeface="Poppins" panose="00000500000000000000"/>
                <a:sym typeface="Poppins" panose="00000500000000000000"/>
              </a:rPr>
              <a:t>TensorFlow / Keras </a:t>
            </a:r>
            <a:endParaRPr lang="en-US" sz="315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4410"/>
              </a:lnSpc>
              <a:spcBef>
                <a:spcPct val="0"/>
              </a:spcBef>
            </a:pPr>
            <a:r>
              <a:rPr lang="en-US" sz="3150">
                <a:solidFill>
                  <a:srgbClr val="FFFFFF"/>
                </a:solidFill>
                <a:latin typeface="Poppins" panose="00000500000000000000"/>
                <a:ea typeface="Poppins" panose="00000500000000000000"/>
                <a:cs typeface="Poppins" panose="00000500000000000000"/>
                <a:sym typeface="Poppins" panose="00000500000000000000"/>
              </a:rPr>
              <a:t>NumPy</a:t>
            </a:r>
            <a:endParaRPr lang="en-US" sz="315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4410"/>
              </a:lnSpc>
              <a:spcBef>
                <a:spcPct val="0"/>
              </a:spcBef>
            </a:pPr>
            <a:r>
              <a:rPr lang="en-US" sz="3150">
                <a:solidFill>
                  <a:srgbClr val="FFFFFF"/>
                </a:solidFill>
                <a:latin typeface="Poppins" panose="00000500000000000000"/>
                <a:ea typeface="Poppins" panose="00000500000000000000"/>
                <a:cs typeface="Poppins" panose="00000500000000000000"/>
                <a:sym typeface="Poppins" panose="00000500000000000000"/>
              </a:rPr>
              <a:t>Matplotlib </a:t>
            </a:r>
            <a:endParaRPr lang="en-US" sz="3150">
              <a:solidFill>
                <a:srgbClr val="FFFFFF"/>
              </a:solidFill>
              <a:latin typeface="Poppins" panose="00000500000000000000"/>
              <a:ea typeface="Poppins" panose="00000500000000000000"/>
              <a:cs typeface="Poppins" panose="00000500000000000000"/>
              <a:sym typeface="Poppins" panose="00000500000000000000"/>
            </a:endParaRPr>
          </a:p>
          <a:p>
            <a:pPr algn="l">
              <a:lnSpc>
                <a:spcPts val="4410"/>
              </a:lnSpc>
              <a:spcBef>
                <a:spcPct val="0"/>
              </a:spcBef>
            </a:pPr>
            <a:r>
              <a:rPr lang="en-US" sz="3150" b="1">
                <a:solidFill>
                  <a:srgbClr val="FFFFFF"/>
                </a:solidFill>
                <a:latin typeface="Poppins Bold" panose="00000800000000000000"/>
                <a:ea typeface="Poppins Bold" panose="00000800000000000000"/>
                <a:cs typeface="Poppins Bold" panose="00000800000000000000"/>
                <a:sym typeface="Poppins Bold" panose="00000800000000000000"/>
              </a:rPr>
              <a:t>APIs:</a:t>
            </a:r>
            <a:endParaRPr lang="en-US" sz="3150" b="1">
              <a:solidFill>
                <a:srgbClr val="FFFFFF"/>
              </a:solidFill>
              <a:latin typeface="Poppins Bold" panose="00000800000000000000"/>
              <a:ea typeface="Poppins Bold" panose="00000800000000000000"/>
              <a:cs typeface="Poppins Bold" panose="00000800000000000000"/>
              <a:sym typeface="Poppins Bold" panose="00000800000000000000"/>
            </a:endParaRPr>
          </a:p>
          <a:p>
            <a:pPr algn="l">
              <a:lnSpc>
                <a:spcPts val="4410"/>
              </a:lnSpc>
              <a:spcBef>
                <a:spcPct val="0"/>
              </a:spcBef>
            </a:pPr>
            <a:r>
              <a:rPr lang="en-US" sz="3150">
                <a:solidFill>
                  <a:srgbClr val="FFFFFF"/>
                </a:solidFill>
                <a:latin typeface="Poppins" panose="00000500000000000000"/>
                <a:ea typeface="Poppins" panose="00000500000000000000"/>
                <a:cs typeface="Poppins" panose="00000500000000000000"/>
                <a:sym typeface="Poppins" panose="00000500000000000000"/>
              </a:rPr>
              <a:t>None used </a:t>
            </a:r>
            <a:endParaRPr lang="en-US" sz="3150">
              <a:solidFill>
                <a:srgbClr val="FFFFFF"/>
              </a:solidFill>
              <a:latin typeface="Poppins" panose="00000500000000000000"/>
              <a:ea typeface="Poppins" panose="00000500000000000000"/>
              <a:cs typeface="Poppins" panose="00000500000000000000"/>
              <a:sym typeface="Poppins" panose="00000500000000000000"/>
            </a:endParaRPr>
          </a:p>
        </p:txBody>
      </p:sp>
      <p:pic>
        <p:nvPicPr>
          <p:cNvPr id="8" name="Picture 7"/>
          <p:cNvPicPr>
            <a:picLocks noChangeAspect="1"/>
          </p:cNvPicPr>
          <p:nvPr/>
        </p:nvPicPr>
        <p:blipFill>
          <a:blip r:embed="rId5"/>
          <a:stretch>
            <a:fillRect/>
          </a:stretch>
        </p:blipFill>
        <p:spPr>
          <a:xfrm>
            <a:off x="0" y="0"/>
            <a:ext cx="2914650" cy="962025"/>
          </a:xfrm>
          <a:prstGeom prst="rect">
            <a:avLst/>
          </a:prstGeom>
        </p:spPr>
      </p:pic>
      <p:pic>
        <p:nvPicPr>
          <p:cNvPr id="9" name="Picture 8"/>
          <p:cNvPicPr>
            <a:picLocks noChangeAspect="1"/>
          </p:cNvPicPr>
          <p:nvPr/>
        </p:nvPicPr>
        <p:blipFill>
          <a:blip r:embed="rId6"/>
          <a:stretch>
            <a:fillRect/>
          </a:stretch>
        </p:blipFill>
        <p:spPr>
          <a:xfrm>
            <a:off x="17297400" y="0"/>
            <a:ext cx="904875" cy="6762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2386705" y="4981180"/>
            <a:ext cx="1894745" cy="1860295"/>
          </a:xfrm>
          <a:custGeom>
            <a:avLst/>
            <a:gdLst/>
            <a:ahLst/>
            <a:cxnLst/>
            <a:rect l="l" t="t" r="r" b="b"/>
            <a:pathLst>
              <a:path w="1894745" h="1860295">
                <a:moveTo>
                  <a:pt x="0" y="0"/>
                </a:moveTo>
                <a:lnTo>
                  <a:pt x="1894745" y="0"/>
                </a:lnTo>
                <a:lnTo>
                  <a:pt x="1894745" y="1860295"/>
                </a:lnTo>
                <a:lnTo>
                  <a:pt x="0" y="1860295"/>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sp>
      <p:sp>
        <p:nvSpPr>
          <p:cNvPr id="4" name="Freeform 4"/>
          <p:cNvSpPr/>
          <p:nvPr/>
        </p:nvSpPr>
        <p:spPr>
          <a:xfrm>
            <a:off x="5224093" y="1807581"/>
            <a:ext cx="7500943" cy="8479419"/>
          </a:xfrm>
          <a:custGeom>
            <a:avLst/>
            <a:gdLst/>
            <a:ahLst/>
            <a:cxnLst/>
            <a:rect l="l" t="t" r="r" b="b"/>
            <a:pathLst>
              <a:path w="7500943" h="8479419">
                <a:moveTo>
                  <a:pt x="0" y="0"/>
                </a:moveTo>
                <a:lnTo>
                  <a:pt x="7500943" y="0"/>
                </a:lnTo>
                <a:lnTo>
                  <a:pt x="7500943" y="8479419"/>
                </a:lnTo>
                <a:lnTo>
                  <a:pt x="0" y="8479419"/>
                </a:lnTo>
                <a:lnTo>
                  <a:pt x="0" y="0"/>
                </a:lnTo>
                <a:close/>
              </a:path>
            </a:pathLst>
          </a:custGeom>
          <a:blipFill>
            <a:blip r:embed="rId4"/>
            <a:stretch>
              <a:fillRect l="-407" r="-407" b="-1056"/>
            </a:stretch>
          </a:blipFill>
        </p:spPr>
      </p:sp>
      <p:sp>
        <p:nvSpPr>
          <p:cNvPr id="5" name="TextBox 5"/>
          <p:cNvSpPr txBox="1"/>
          <p:nvPr/>
        </p:nvSpPr>
        <p:spPr>
          <a:xfrm>
            <a:off x="-205556" y="578837"/>
            <a:ext cx="10859298" cy="1228744"/>
          </a:xfrm>
          <a:prstGeom prst="rect">
            <a:avLst/>
          </a:prstGeom>
        </p:spPr>
        <p:txBody>
          <a:bodyPr lIns="0" tIns="0" rIns="0" bIns="0" rtlCol="0" anchor="t">
            <a:spAutoFit/>
          </a:bodyPr>
          <a:lstStyle/>
          <a:p>
            <a:pPr algn="ctr">
              <a:lnSpc>
                <a:spcPts val="10085"/>
              </a:lnSpc>
              <a:spcBef>
                <a:spcPct val="0"/>
              </a:spcBef>
            </a:pPr>
            <a:r>
              <a:rPr lang="en-US" sz="7205">
                <a:solidFill>
                  <a:srgbClr val="FFFFFF"/>
                </a:solidFill>
                <a:latin typeface="RQND Pro" panose="00000500000000000000"/>
                <a:ea typeface="RQND Pro" panose="00000500000000000000"/>
                <a:cs typeface="RQND Pro" panose="00000500000000000000"/>
                <a:sym typeface="RQND Pro" panose="00000500000000000000"/>
              </a:rPr>
              <a:t> IMPLEMENTATION DETAILS</a:t>
            </a:r>
            <a:endParaRPr lang="en-US" sz="7205">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6" name="TextBox 6"/>
          <p:cNvSpPr txBox="1"/>
          <p:nvPr/>
        </p:nvSpPr>
        <p:spPr>
          <a:xfrm>
            <a:off x="16388820" y="8757924"/>
            <a:ext cx="1229733" cy="895978"/>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RQND Pro" panose="00000500000000000000"/>
                <a:ea typeface="RQND Pro" panose="00000500000000000000"/>
                <a:cs typeface="RQND Pro" panose="00000500000000000000"/>
                <a:sym typeface="RQND Pro" panose="00000500000000000000"/>
              </a:rPr>
              <a:t>06</a:t>
            </a:r>
            <a:endParaRPr lang="en-US" sz="5200">
              <a:solidFill>
                <a:srgbClr val="FFFFFF"/>
              </a:solidFill>
              <a:latin typeface="RQND Pro" panose="00000500000000000000"/>
              <a:ea typeface="RQND Pro" panose="00000500000000000000"/>
              <a:cs typeface="RQND Pro" panose="00000500000000000000"/>
              <a:sym typeface="RQND Pro" panose="00000500000000000000"/>
            </a:endParaRPr>
          </a:p>
        </p:txBody>
      </p:sp>
      <p:pic>
        <p:nvPicPr>
          <p:cNvPr id="7" name="Picture 6"/>
          <p:cNvPicPr>
            <a:picLocks noChangeAspect="1"/>
          </p:cNvPicPr>
          <p:nvPr/>
        </p:nvPicPr>
        <p:blipFill>
          <a:blip r:embed="rId5"/>
          <a:stretch>
            <a:fillRect/>
          </a:stretch>
        </p:blipFill>
        <p:spPr>
          <a:xfrm>
            <a:off x="0" y="0"/>
            <a:ext cx="2914650" cy="962025"/>
          </a:xfrm>
          <a:prstGeom prst="rect">
            <a:avLst/>
          </a:prstGeom>
        </p:spPr>
      </p:pic>
      <p:pic>
        <p:nvPicPr>
          <p:cNvPr id="8" name="Picture 7"/>
          <p:cNvPicPr>
            <a:picLocks noChangeAspect="1"/>
          </p:cNvPicPr>
          <p:nvPr/>
        </p:nvPicPr>
        <p:blipFill>
          <a:blip r:embed="rId6"/>
          <a:stretch>
            <a:fillRect/>
          </a:stretch>
        </p:blipFill>
        <p:spPr>
          <a:xfrm>
            <a:off x="17373600" y="0"/>
            <a:ext cx="904875" cy="676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844"/>
        </a:solidFill>
        <a:effectLst/>
      </p:bgPr>
    </p:bg>
    <p:spTree>
      <p:nvGrpSpPr>
        <p:cNvPr id="1" name=""/>
        <p:cNvGrpSpPr/>
        <p:nvPr/>
      </p:nvGrpSpPr>
      <p:grpSpPr>
        <a:xfrm>
          <a:off x="0" y="0"/>
          <a:ext cx="0" cy="0"/>
          <a:chOff x="0" y="0"/>
          <a:chExt cx="0" cy="0"/>
        </a:xfrm>
      </p:grpSpPr>
      <p:sp>
        <p:nvSpPr>
          <p:cNvPr id="2" name="Freeform 2"/>
          <p:cNvSpPr/>
          <p:nvPr/>
        </p:nvSpPr>
        <p:spPr>
          <a:xfrm>
            <a:off x="0" y="1337310"/>
            <a:ext cx="18288000" cy="7612380"/>
          </a:xfrm>
          <a:custGeom>
            <a:avLst/>
            <a:gdLst/>
            <a:ahLst/>
            <a:cxnLst/>
            <a:rect l="l" t="t" r="r" b="b"/>
            <a:pathLst>
              <a:path w="18288000" h="7612380">
                <a:moveTo>
                  <a:pt x="0" y="0"/>
                </a:moveTo>
                <a:lnTo>
                  <a:pt x="18288000" y="0"/>
                </a:lnTo>
                <a:lnTo>
                  <a:pt x="18288000" y="7612380"/>
                </a:lnTo>
                <a:lnTo>
                  <a:pt x="0" y="7612380"/>
                </a:lnTo>
                <a:lnTo>
                  <a:pt x="0" y="0"/>
                </a:lnTo>
                <a:close/>
              </a:path>
            </a:pathLst>
          </a:custGeom>
          <a:blipFill>
            <a:blip r:embed="rId1"/>
            <a:stretch>
              <a:fillRect/>
            </a:stretch>
          </a:blipFill>
        </p:spPr>
      </p:sp>
      <p:pic>
        <p:nvPicPr>
          <p:cNvPr id="3" name="Picture 2"/>
          <p:cNvPicPr>
            <a:picLocks noChangeAspect="1"/>
          </p:cNvPicPr>
          <p:nvPr/>
        </p:nvPicPr>
        <p:blipFill>
          <a:blip r:embed="rId2"/>
          <a:stretch>
            <a:fillRect/>
          </a:stretch>
        </p:blipFill>
        <p:spPr>
          <a:xfrm>
            <a:off x="0" y="38100"/>
            <a:ext cx="2914650" cy="962025"/>
          </a:xfrm>
          <a:prstGeom prst="rect">
            <a:avLst/>
          </a:prstGeom>
        </p:spPr>
      </p:pic>
      <p:pic>
        <p:nvPicPr>
          <p:cNvPr id="4" name="Picture 3"/>
          <p:cNvPicPr>
            <a:picLocks noChangeAspect="1"/>
          </p:cNvPicPr>
          <p:nvPr/>
        </p:nvPicPr>
        <p:blipFill>
          <a:blip r:embed="rId3"/>
          <a:stretch>
            <a:fillRect/>
          </a:stretch>
        </p:blipFill>
        <p:spPr>
          <a:xfrm>
            <a:off x="17373600" y="38100"/>
            <a:ext cx="904875" cy="676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844"/>
        </a:solidFill>
        <a:effectLst/>
      </p:bgPr>
    </p:bg>
    <p:spTree>
      <p:nvGrpSpPr>
        <p:cNvPr id="1" name=""/>
        <p:cNvGrpSpPr/>
        <p:nvPr/>
      </p:nvGrpSpPr>
      <p:grpSpPr>
        <a:xfrm>
          <a:off x="0" y="0"/>
          <a:ext cx="0" cy="0"/>
          <a:chOff x="0" y="0"/>
          <a:chExt cx="0" cy="0"/>
        </a:xfrm>
      </p:grpSpPr>
      <p:sp>
        <p:nvSpPr>
          <p:cNvPr id="2" name="Freeform 2"/>
          <p:cNvSpPr/>
          <p:nvPr/>
        </p:nvSpPr>
        <p:spPr>
          <a:xfrm>
            <a:off x="3093300" y="0"/>
            <a:ext cx="12101400" cy="10287000"/>
          </a:xfrm>
          <a:custGeom>
            <a:avLst/>
            <a:gdLst/>
            <a:ahLst/>
            <a:cxnLst/>
            <a:rect l="l" t="t" r="r" b="b"/>
            <a:pathLst>
              <a:path w="12101400" h="10287000">
                <a:moveTo>
                  <a:pt x="0" y="0"/>
                </a:moveTo>
                <a:lnTo>
                  <a:pt x="12101400" y="0"/>
                </a:lnTo>
                <a:lnTo>
                  <a:pt x="12101400" y="10287000"/>
                </a:lnTo>
                <a:lnTo>
                  <a:pt x="0" y="10287000"/>
                </a:lnTo>
                <a:lnTo>
                  <a:pt x="0" y="0"/>
                </a:lnTo>
                <a:close/>
              </a:path>
            </a:pathLst>
          </a:custGeom>
          <a:blipFill>
            <a:blip r:embed="rId1"/>
            <a:stretch>
              <a:fillRect/>
            </a:stretch>
          </a:blipFill>
        </p:spPr>
      </p:sp>
      <p:pic>
        <p:nvPicPr>
          <p:cNvPr id="3" name="Picture 2"/>
          <p:cNvPicPr>
            <a:picLocks noChangeAspect="1"/>
          </p:cNvPicPr>
          <p:nvPr/>
        </p:nvPicPr>
        <p:blipFill>
          <a:blip r:embed="rId2"/>
          <a:stretch>
            <a:fillRect/>
          </a:stretch>
        </p:blipFill>
        <p:spPr>
          <a:xfrm>
            <a:off x="0" y="38100"/>
            <a:ext cx="2914650" cy="962025"/>
          </a:xfrm>
          <a:prstGeom prst="rect">
            <a:avLst/>
          </a:prstGeom>
        </p:spPr>
      </p:pic>
      <p:pic>
        <p:nvPicPr>
          <p:cNvPr id="4" name="Picture 3"/>
          <p:cNvPicPr>
            <a:picLocks noChangeAspect="1"/>
          </p:cNvPicPr>
          <p:nvPr/>
        </p:nvPicPr>
        <p:blipFill>
          <a:blip r:embed="rId3"/>
          <a:stretch>
            <a:fillRect/>
          </a:stretch>
        </p:blipFill>
        <p:spPr>
          <a:xfrm>
            <a:off x="17297400" y="38100"/>
            <a:ext cx="904875" cy="6762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844"/>
        </a:solidFill>
        <a:effectLst/>
      </p:bgPr>
    </p:bg>
    <p:spTree>
      <p:nvGrpSpPr>
        <p:cNvPr id="1" name=""/>
        <p:cNvGrpSpPr/>
        <p:nvPr/>
      </p:nvGrpSpPr>
      <p:grpSpPr>
        <a:xfrm>
          <a:off x="0" y="0"/>
          <a:ext cx="0" cy="0"/>
          <a:chOff x="0" y="0"/>
          <a:chExt cx="0" cy="0"/>
        </a:xfrm>
      </p:grpSpPr>
      <p:sp>
        <p:nvSpPr>
          <p:cNvPr id="2" name="Freeform 2"/>
          <p:cNvSpPr/>
          <p:nvPr/>
        </p:nvSpPr>
        <p:spPr>
          <a:xfrm>
            <a:off x="0" y="3531870"/>
            <a:ext cx="18288000" cy="3223260"/>
          </a:xfrm>
          <a:custGeom>
            <a:avLst/>
            <a:gdLst/>
            <a:ahLst/>
            <a:cxnLst/>
            <a:rect l="l" t="t" r="r" b="b"/>
            <a:pathLst>
              <a:path w="18288000" h="3223260">
                <a:moveTo>
                  <a:pt x="0" y="0"/>
                </a:moveTo>
                <a:lnTo>
                  <a:pt x="18288000" y="0"/>
                </a:lnTo>
                <a:lnTo>
                  <a:pt x="18288000" y="3223260"/>
                </a:lnTo>
                <a:lnTo>
                  <a:pt x="0" y="3223260"/>
                </a:lnTo>
                <a:lnTo>
                  <a:pt x="0" y="0"/>
                </a:lnTo>
                <a:close/>
              </a:path>
            </a:pathLst>
          </a:custGeom>
          <a:blipFill>
            <a:blip r:embed="rId1"/>
            <a:stretch>
              <a:fillRect/>
            </a:stretch>
          </a:blipFill>
        </p:spPr>
      </p:sp>
      <p:pic>
        <p:nvPicPr>
          <p:cNvPr id="3" name="Picture 2"/>
          <p:cNvPicPr>
            <a:picLocks noChangeAspect="1"/>
          </p:cNvPicPr>
          <p:nvPr/>
        </p:nvPicPr>
        <p:blipFill>
          <a:blip r:embed="rId2"/>
          <a:stretch>
            <a:fillRect/>
          </a:stretch>
        </p:blipFill>
        <p:spPr>
          <a:xfrm>
            <a:off x="0" y="-38100"/>
            <a:ext cx="2914650" cy="962025"/>
          </a:xfrm>
          <a:prstGeom prst="rect">
            <a:avLst/>
          </a:prstGeom>
        </p:spPr>
      </p:pic>
      <p:pic>
        <p:nvPicPr>
          <p:cNvPr id="4" name="Picture 3"/>
          <p:cNvPicPr>
            <a:picLocks noChangeAspect="1"/>
          </p:cNvPicPr>
          <p:nvPr/>
        </p:nvPicPr>
        <p:blipFill>
          <a:blip r:embed="rId3"/>
          <a:stretch>
            <a:fillRect/>
          </a:stretch>
        </p:blipFill>
        <p:spPr>
          <a:xfrm>
            <a:off x="17297400" y="38100"/>
            <a:ext cx="904875" cy="6762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74024" y="3230"/>
            <a:ext cx="12886136" cy="2280957"/>
          </a:xfrm>
          <a:prstGeom prst="rect">
            <a:avLst/>
          </a:prstGeom>
        </p:spPr>
        <p:txBody>
          <a:bodyPr lIns="0" tIns="0" rIns="0" bIns="0" rtlCol="0" anchor="t">
            <a:spAutoFit/>
          </a:bodyPr>
          <a:lstStyle/>
          <a:p>
            <a:pPr algn="l">
              <a:lnSpc>
                <a:spcPts val="18650"/>
              </a:lnSpc>
              <a:spcBef>
                <a:spcPct val="0"/>
              </a:spcBef>
            </a:pPr>
            <a:r>
              <a:rPr lang="en-US" sz="13325">
                <a:solidFill>
                  <a:srgbClr val="FFFFFF"/>
                </a:solidFill>
                <a:latin typeface="RQND Pro" panose="00000500000000000000"/>
                <a:ea typeface="RQND Pro" panose="00000500000000000000"/>
                <a:cs typeface="RQND Pro" panose="00000500000000000000"/>
                <a:sym typeface="RQND Pro" panose="00000500000000000000"/>
              </a:rPr>
              <a:t>RESULT ANALYSIS</a:t>
            </a:r>
            <a:endParaRPr lang="en-US" sz="13325">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4" name="TextBox 4"/>
          <p:cNvSpPr txBox="1"/>
          <p:nvPr/>
        </p:nvSpPr>
        <p:spPr>
          <a:xfrm>
            <a:off x="1657695" y="8757924"/>
            <a:ext cx="1229733" cy="895978"/>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RQND Pro" panose="00000500000000000000"/>
                <a:ea typeface="RQND Pro" panose="00000500000000000000"/>
                <a:cs typeface="RQND Pro" panose="00000500000000000000"/>
                <a:sym typeface="RQND Pro" panose="00000500000000000000"/>
              </a:rPr>
              <a:t>07</a:t>
            </a:r>
            <a:endParaRPr lang="en-US" sz="5200">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5" name="Freeform 5"/>
          <p:cNvSpPr/>
          <p:nvPr/>
        </p:nvSpPr>
        <p:spPr>
          <a:xfrm>
            <a:off x="1028700" y="2218833"/>
            <a:ext cx="16032492" cy="7435068"/>
          </a:xfrm>
          <a:custGeom>
            <a:avLst/>
            <a:gdLst/>
            <a:ahLst/>
            <a:cxnLst/>
            <a:rect l="l" t="t" r="r" b="b"/>
            <a:pathLst>
              <a:path w="16032492" h="7435068">
                <a:moveTo>
                  <a:pt x="0" y="0"/>
                </a:moveTo>
                <a:lnTo>
                  <a:pt x="16032492" y="0"/>
                </a:lnTo>
                <a:lnTo>
                  <a:pt x="16032492" y="7435068"/>
                </a:lnTo>
                <a:lnTo>
                  <a:pt x="0" y="7435068"/>
                </a:lnTo>
                <a:lnTo>
                  <a:pt x="0" y="0"/>
                </a:lnTo>
                <a:close/>
              </a:path>
            </a:pathLst>
          </a:custGeom>
          <a:blipFill>
            <a:blip r:embed="rId2"/>
            <a:stretch>
              <a:fillRect/>
            </a:stretch>
          </a:blipFill>
        </p:spPr>
      </p:sp>
      <p:pic>
        <p:nvPicPr>
          <p:cNvPr id="6" name="Picture 5"/>
          <p:cNvPicPr>
            <a:picLocks noChangeAspect="1"/>
          </p:cNvPicPr>
          <p:nvPr/>
        </p:nvPicPr>
        <p:blipFill>
          <a:blip r:embed="rId3"/>
          <a:stretch>
            <a:fillRect/>
          </a:stretch>
        </p:blipFill>
        <p:spPr>
          <a:xfrm>
            <a:off x="152400" y="38100"/>
            <a:ext cx="2914650" cy="962025"/>
          </a:xfrm>
          <a:prstGeom prst="rect">
            <a:avLst/>
          </a:prstGeom>
        </p:spPr>
      </p:pic>
      <p:pic>
        <p:nvPicPr>
          <p:cNvPr id="7" name="Picture 6"/>
          <p:cNvPicPr>
            <a:picLocks noChangeAspect="1"/>
          </p:cNvPicPr>
          <p:nvPr/>
        </p:nvPicPr>
        <p:blipFill>
          <a:blip r:embed="rId4"/>
          <a:stretch>
            <a:fillRect/>
          </a:stretch>
        </p:blipFill>
        <p:spPr>
          <a:xfrm>
            <a:off x="17373600" y="-38100"/>
            <a:ext cx="904875" cy="6762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844"/>
        </a:solidFill>
        <a:effectLst/>
      </p:bgPr>
    </p:bg>
    <p:spTree>
      <p:nvGrpSpPr>
        <p:cNvPr id="1" name=""/>
        <p:cNvGrpSpPr/>
        <p:nvPr/>
      </p:nvGrpSpPr>
      <p:grpSpPr>
        <a:xfrm>
          <a:off x="0" y="0"/>
          <a:ext cx="0" cy="0"/>
          <a:chOff x="0" y="0"/>
          <a:chExt cx="0" cy="0"/>
        </a:xfrm>
      </p:grpSpPr>
      <p:sp>
        <p:nvSpPr>
          <p:cNvPr id="2" name="Freeform 2"/>
          <p:cNvSpPr/>
          <p:nvPr/>
        </p:nvSpPr>
        <p:spPr>
          <a:xfrm>
            <a:off x="1809241" y="0"/>
            <a:ext cx="14669519" cy="10287000"/>
          </a:xfrm>
          <a:custGeom>
            <a:avLst/>
            <a:gdLst/>
            <a:ahLst/>
            <a:cxnLst/>
            <a:rect l="l" t="t" r="r" b="b"/>
            <a:pathLst>
              <a:path w="14669519" h="10287000">
                <a:moveTo>
                  <a:pt x="0" y="0"/>
                </a:moveTo>
                <a:lnTo>
                  <a:pt x="14669518" y="0"/>
                </a:lnTo>
                <a:lnTo>
                  <a:pt x="14669518" y="10287000"/>
                </a:lnTo>
                <a:lnTo>
                  <a:pt x="0" y="10287000"/>
                </a:lnTo>
                <a:lnTo>
                  <a:pt x="0" y="0"/>
                </a:lnTo>
                <a:close/>
              </a:path>
            </a:pathLst>
          </a:custGeom>
          <a:blipFill>
            <a:blip r:embed="rId1"/>
            <a:stretch>
              <a:fillRect/>
            </a:stretch>
          </a:blipFill>
        </p:spPr>
      </p:sp>
      <p:pic>
        <p:nvPicPr>
          <p:cNvPr id="3" name="Picture 2"/>
          <p:cNvPicPr>
            <a:picLocks noChangeAspect="1"/>
          </p:cNvPicPr>
          <p:nvPr/>
        </p:nvPicPr>
        <p:blipFill>
          <a:blip r:embed="rId2"/>
          <a:stretch>
            <a:fillRect/>
          </a:stretch>
        </p:blipFill>
        <p:spPr>
          <a:xfrm>
            <a:off x="0" y="114300"/>
            <a:ext cx="2914650" cy="962025"/>
          </a:xfrm>
          <a:prstGeom prst="rect">
            <a:avLst/>
          </a:prstGeom>
        </p:spPr>
      </p:pic>
      <p:pic>
        <p:nvPicPr>
          <p:cNvPr id="4" name="Picture 3"/>
          <p:cNvPicPr>
            <a:picLocks noChangeAspect="1"/>
          </p:cNvPicPr>
          <p:nvPr/>
        </p:nvPicPr>
        <p:blipFill>
          <a:blip r:embed="rId3"/>
          <a:stretch>
            <a:fillRect/>
          </a:stretch>
        </p:blipFill>
        <p:spPr>
          <a:xfrm>
            <a:off x="17221200" y="0"/>
            <a:ext cx="904875" cy="676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844"/>
        </a:solidFill>
        <a:effectLst/>
      </p:bgPr>
    </p:bg>
    <p:spTree>
      <p:nvGrpSpPr>
        <p:cNvPr id="1" name=""/>
        <p:cNvGrpSpPr/>
        <p:nvPr/>
      </p:nvGrpSpPr>
      <p:grpSpPr>
        <a:xfrm>
          <a:off x="0" y="0"/>
          <a:ext cx="0" cy="0"/>
          <a:chOff x="0" y="0"/>
          <a:chExt cx="0" cy="0"/>
        </a:xfrm>
      </p:grpSpPr>
      <p:sp>
        <p:nvSpPr>
          <p:cNvPr id="2" name="Freeform 2"/>
          <p:cNvSpPr/>
          <p:nvPr/>
        </p:nvSpPr>
        <p:spPr>
          <a:xfrm>
            <a:off x="0" y="2320290"/>
            <a:ext cx="18288000" cy="5646420"/>
          </a:xfrm>
          <a:custGeom>
            <a:avLst/>
            <a:gdLst/>
            <a:ahLst/>
            <a:cxnLst/>
            <a:rect l="l" t="t" r="r" b="b"/>
            <a:pathLst>
              <a:path w="18288000" h="5646420">
                <a:moveTo>
                  <a:pt x="0" y="0"/>
                </a:moveTo>
                <a:lnTo>
                  <a:pt x="18288000" y="0"/>
                </a:lnTo>
                <a:lnTo>
                  <a:pt x="18288000" y="5646420"/>
                </a:lnTo>
                <a:lnTo>
                  <a:pt x="0" y="5646420"/>
                </a:lnTo>
                <a:lnTo>
                  <a:pt x="0" y="0"/>
                </a:lnTo>
                <a:close/>
              </a:path>
            </a:pathLst>
          </a:custGeom>
          <a:blipFill>
            <a:blip r:embed="rId1"/>
            <a:stretch>
              <a:fillRect/>
            </a:stretch>
          </a:blipFill>
        </p:spPr>
      </p:sp>
      <p:pic>
        <p:nvPicPr>
          <p:cNvPr id="3" name="Picture 2"/>
          <p:cNvPicPr>
            <a:picLocks noChangeAspect="1"/>
          </p:cNvPicPr>
          <p:nvPr/>
        </p:nvPicPr>
        <p:blipFill>
          <a:blip r:embed="rId2"/>
          <a:stretch>
            <a:fillRect/>
          </a:stretch>
        </p:blipFill>
        <p:spPr>
          <a:xfrm>
            <a:off x="76200" y="38100"/>
            <a:ext cx="2914650" cy="9620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125907" y="2894043"/>
            <a:ext cx="6554005" cy="5696027"/>
          </a:xfrm>
          <a:custGeom>
            <a:avLst/>
            <a:gdLst/>
            <a:ahLst/>
            <a:cxnLst/>
            <a:rect l="l" t="t" r="r" b="b"/>
            <a:pathLst>
              <a:path w="6554005" h="5696027">
                <a:moveTo>
                  <a:pt x="0" y="0"/>
                </a:moveTo>
                <a:lnTo>
                  <a:pt x="6554005" y="0"/>
                </a:lnTo>
                <a:lnTo>
                  <a:pt x="6554005" y="5696027"/>
                </a:lnTo>
                <a:lnTo>
                  <a:pt x="0" y="56960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6388820" y="8757924"/>
            <a:ext cx="1229733" cy="895978"/>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RQND Pro" panose="00000500000000000000"/>
                <a:ea typeface="RQND Pro" panose="00000500000000000000"/>
                <a:cs typeface="RQND Pro" panose="00000500000000000000"/>
                <a:sym typeface="RQND Pro" panose="00000500000000000000"/>
              </a:rPr>
              <a:t>08</a:t>
            </a:r>
            <a:endParaRPr lang="en-US" sz="5200">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5" name="TextBox 5"/>
          <p:cNvSpPr txBox="1"/>
          <p:nvPr/>
        </p:nvSpPr>
        <p:spPr>
          <a:xfrm>
            <a:off x="7601084" y="2673793"/>
            <a:ext cx="8935562" cy="1088201"/>
          </a:xfrm>
          <a:prstGeom prst="rect">
            <a:avLst/>
          </a:prstGeom>
        </p:spPr>
        <p:txBody>
          <a:bodyPr lIns="0" tIns="0" rIns="0" bIns="0" rtlCol="0" anchor="t">
            <a:spAutoFit/>
          </a:bodyPr>
          <a:lstStyle/>
          <a:p>
            <a:pPr algn="l">
              <a:lnSpc>
                <a:spcPts val="6845"/>
              </a:lnSpc>
            </a:pPr>
            <a:r>
              <a:rPr lang="en-US" sz="11405">
                <a:solidFill>
                  <a:srgbClr val="FFFFFF"/>
                </a:solidFill>
                <a:latin typeface="RQND Pro" panose="00000500000000000000"/>
                <a:ea typeface="RQND Pro" panose="00000500000000000000"/>
                <a:cs typeface="RQND Pro" panose="00000500000000000000"/>
                <a:sym typeface="RQND Pro" panose="00000500000000000000"/>
              </a:rPr>
              <a:t>CONCLUSION</a:t>
            </a:r>
            <a:endParaRPr lang="en-US" sz="11405">
              <a:solidFill>
                <a:srgbClr val="FFFFFF"/>
              </a:solidFill>
              <a:latin typeface="RQND Pro" panose="00000500000000000000"/>
              <a:ea typeface="RQND Pro" panose="00000500000000000000"/>
              <a:cs typeface="RQND Pro" panose="00000500000000000000"/>
              <a:sym typeface="RQND Pro" panose="00000500000000000000"/>
            </a:endParaRPr>
          </a:p>
        </p:txBody>
      </p:sp>
      <p:sp>
        <p:nvSpPr>
          <p:cNvPr id="6" name="Freeform 6"/>
          <p:cNvSpPr/>
          <p:nvPr/>
        </p:nvSpPr>
        <p:spPr>
          <a:xfrm>
            <a:off x="3880901" y="1640144"/>
            <a:ext cx="2961265" cy="2907424"/>
          </a:xfrm>
          <a:custGeom>
            <a:avLst/>
            <a:gdLst/>
            <a:ahLst/>
            <a:cxnLst/>
            <a:rect l="l" t="t" r="r" b="b"/>
            <a:pathLst>
              <a:path w="2961265" h="2907424">
                <a:moveTo>
                  <a:pt x="0" y="0"/>
                </a:moveTo>
                <a:lnTo>
                  <a:pt x="2961265" y="0"/>
                </a:lnTo>
                <a:lnTo>
                  <a:pt x="2961265" y="2907423"/>
                </a:lnTo>
                <a:lnTo>
                  <a:pt x="0" y="2907423"/>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7601084" y="4018274"/>
            <a:ext cx="10279245" cy="5240026"/>
          </a:xfrm>
          <a:prstGeom prst="rect">
            <a:avLst/>
          </a:prstGeom>
        </p:spPr>
        <p:txBody>
          <a:bodyPr lIns="0" tIns="0" rIns="0" bIns="0" rtlCol="0" anchor="t">
            <a:spAutoFit/>
          </a:bodyPr>
          <a:lstStyle/>
          <a:p>
            <a:pPr algn="ctr">
              <a:lnSpc>
                <a:spcPts val="5180"/>
              </a:lnSpc>
              <a:spcBef>
                <a:spcPct val="0"/>
              </a:spcBef>
            </a:pPr>
            <a:r>
              <a:rPr lang="en-US" sz="3700">
                <a:solidFill>
                  <a:srgbClr val="FFFFFF"/>
                </a:solidFill>
                <a:latin typeface="RQND Pro" panose="00000500000000000000"/>
                <a:ea typeface="RQND Pro" panose="00000500000000000000"/>
                <a:cs typeface="RQND Pro" panose="00000500000000000000"/>
                <a:sym typeface="RQND Pro" panose="00000500000000000000"/>
              </a:rPr>
              <a:t>In this project, we built an image classification model that predicts the class of an uploaded image using the CIFAR-10 dataset. The system provides accurate results and demonstrates the practical use of AI in solving computer vision problems. It shows how machine learning can automate image recognition tasks across different fields.</a:t>
            </a:r>
            <a:endParaRPr lang="en-US" sz="3700">
              <a:solidFill>
                <a:srgbClr val="FFFFFF"/>
              </a:solidFill>
              <a:latin typeface="RQND Pro" panose="00000500000000000000"/>
              <a:ea typeface="RQND Pro" panose="00000500000000000000"/>
              <a:cs typeface="RQND Pro" panose="00000500000000000000"/>
              <a:sym typeface="RQND Pro" panose="00000500000000000000"/>
            </a:endParaRPr>
          </a:p>
        </p:txBody>
      </p:sp>
      <p:pic>
        <p:nvPicPr>
          <p:cNvPr id="8" name="Picture 7"/>
          <p:cNvPicPr>
            <a:picLocks noChangeAspect="1"/>
          </p:cNvPicPr>
          <p:nvPr/>
        </p:nvPicPr>
        <p:blipFill>
          <a:blip r:embed="rId6"/>
          <a:stretch>
            <a:fillRect/>
          </a:stretch>
        </p:blipFill>
        <p:spPr>
          <a:xfrm>
            <a:off x="76200" y="38100"/>
            <a:ext cx="2914650" cy="962025"/>
          </a:xfrm>
          <a:prstGeom prst="rect">
            <a:avLst/>
          </a:prstGeom>
        </p:spPr>
      </p:pic>
      <p:pic>
        <p:nvPicPr>
          <p:cNvPr id="9" name="Picture 8"/>
          <p:cNvPicPr>
            <a:picLocks noChangeAspect="1"/>
          </p:cNvPicPr>
          <p:nvPr/>
        </p:nvPicPr>
        <p:blipFill>
          <a:blip r:embed="rId7"/>
          <a:stretch>
            <a:fillRect/>
          </a:stretch>
        </p:blipFill>
        <p:spPr>
          <a:xfrm>
            <a:off x="17297400" y="38100"/>
            <a:ext cx="904875" cy="6762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519367" y="-352343"/>
            <a:ext cx="10991686" cy="10991686"/>
          </a:xfrm>
          <a:custGeom>
            <a:avLst/>
            <a:gdLst/>
            <a:ahLst/>
            <a:cxnLst/>
            <a:rect l="l" t="t" r="r" b="b"/>
            <a:pathLst>
              <a:path w="10991686" h="10991686">
                <a:moveTo>
                  <a:pt x="0" y="0"/>
                </a:moveTo>
                <a:lnTo>
                  <a:pt x="10991686" y="0"/>
                </a:lnTo>
                <a:lnTo>
                  <a:pt x="10991686" y="10991686"/>
                </a:lnTo>
                <a:lnTo>
                  <a:pt x="0" y="10991686"/>
                </a:lnTo>
                <a:lnTo>
                  <a:pt x="0" y="0"/>
                </a:lnTo>
                <a:close/>
              </a:path>
            </a:pathLst>
          </a:custGeom>
          <a:blipFill>
            <a:blip r:embed="rId2">
              <a:alphaModFix amt="49000"/>
            </a:blip>
            <a:stretch>
              <a:fillRect/>
            </a:stretch>
          </a:blipFill>
        </p:spPr>
      </p:sp>
      <p:sp>
        <p:nvSpPr>
          <p:cNvPr id="4" name="Freeform 4"/>
          <p:cNvSpPr/>
          <p:nvPr/>
        </p:nvSpPr>
        <p:spPr>
          <a:xfrm>
            <a:off x="12478207" y="2678742"/>
            <a:ext cx="3532473" cy="3468247"/>
          </a:xfrm>
          <a:custGeom>
            <a:avLst/>
            <a:gdLst/>
            <a:ahLst/>
            <a:cxnLst/>
            <a:rect l="l" t="t" r="r" b="b"/>
            <a:pathLst>
              <a:path w="3532473" h="3468247">
                <a:moveTo>
                  <a:pt x="0" y="0"/>
                </a:moveTo>
                <a:lnTo>
                  <a:pt x="3532473" y="0"/>
                </a:lnTo>
                <a:lnTo>
                  <a:pt x="3532473" y="3468247"/>
                </a:lnTo>
                <a:lnTo>
                  <a:pt x="0" y="3468247"/>
                </a:lnTo>
                <a:lnTo>
                  <a:pt x="0" y="0"/>
                </a:lnTo>
                <a:close/>
              </a:path>
            </a:pathLst>
          </a:custGeom>
          <a:blipFill>
            <a:blip r:embed="rId3">
              <a:alphaModFix amt="26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4019489" y="4137324"/>
            <a:ext cx="10437882" cy="1412277"/>
          </a:xfrm>
          <a:prstGeom prst="rect">
            <a:avLst/>
          </a:prstGeom>
        </p:spPr>
        <p:txBody>
          <a:bodyPr lIns="0" tIns="0" rIns="0" bIns="0" rtlCol="0" anchor="t">
            <a:spAutoFit/>
          </a:bodyPr>
          <a:lstStyle/>
          <a:p>
            <a:pPr algn="ctr">
              <a:lnSpc>
                <a:spcPts val="9590"/>
              </a:lnSpc>
            </a:pPr>
            <a:r>
              <a:rPr lang="en-US" sz="13325">
                <a:solidFill>
                  <a:srgbClr val="FFFFFF"/>
                </a:solidFill>
                <a:latin typeface="RQND Pro" panose="00000500000000000000"/>
                <a:ea typeface="RQND Pro" panose="00000500000000000000"/>
                <a:cs typeface="RQND Pro" panose="00000500000000000000"/>
                <a:sym typeface="RQND Pro" panose="00000500000000000000"/>
              </a:rPr>
              <a:t>Thank you</a:t>
            </a:r>
            <a:endParaRPr lang="en-US" sz="13325">
              <a:solidFill>
                <a:srgbClr val="FFFFFF"/>
              </a:solidFill>
              <a:latin typeface="RQND Pro" panose="00000500000000000000"/>
              <a:ea typeface="RQND Pro" panose="00000500000000000000"/>
              <a:cs typeface="RQND Pro" panose="00000500000000000000"/>
              <a:sym typeface="RQND Pro" panose="00000500000000000000"/>
            </a:endParaRPr>
          </a:p>
        </p:txBody>
      </p:sp>
      <p:pic>
        <p:nvPicPr>
          <p:cNvPr id="6" name="Picture 5"/>
          <p:cNvPicPr>
            <a:picLocks noChangeAspect="1"/>
          </p:cNvPicPr>
          <p:nvPr/>
        </p:nvPicPr>
        <p:blipFill>
          <a:blip r:embed="rId5"/>
          <a:stretch>
            <a:fillRect/>
          </a:stretch>
        </p:blipFill>
        <p:spPr>
          <a:xfrm>
            <a:off x="0" y="38100"/>
            <a:ext cx="2914650" cy="962025"/>
          </a:xfrm>
          <a:prstGeom prst="rect">
            <a:avLst/>
          </a:prstGeom>
        </p:spPr>
      </p:pic>
      <p:pic>
        <p:nvPicPr>
          <p:cNvPr id="7" name="Picture 6"/>
          <p:cNvPicPr>
            <a:picLocks noChangeAspect="1"/>
          </p:cNvPicPr>
          <p:nvPr/>
        </p:nvPicPr>
        <p:blipFill>
          <a:blip r:embed="rId6"/>
          <a:stretch>
            <a:fillRect/>
          </a:stretch>
        </p:blipFill>
        <p:spPr>
          <a:xfrm>
            <a:off x="17068800" y="38100"/>
            <a:ext cx="904875" cy="676275"/>
          </a:xfrm>
          <a:prstGeom prst="rect">
            <a:avLst/>
          </a:prstGeom>
        </p:spPr>
      </p:pic>
      <p:pic>
        <p:nvPicPr>
          <p:cNvPr id="8" name="Picture 7"/>
          <p:cNvPicPr>
            <a:picLocks noChangeAspect="1"/>
          </p:cNvPicPr>
          <p:nvPr/>
        </p:nvPicPr>
        <p:blipFill>
          <a:blip r:embed="rId6"/>
          <a:stretch>
            <a:fillRect/>
          </a:stretch>
        </p:blipFill>
        <p:spPr>
          <a:xfrm>
            <a:off x="17068800" y="38100"/>
            <a:ext cx="904875" cy="6762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2039</Words>
  <Application>WPS Slides</Application>
  <PresentationFormat>On-screen Show (4:3)</PresentationFormat>
  <Paragraphs>66</Paragraphs>
  <Slides>14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RQND Pro</vt:lpstr>
      <vt:lpstr>Arapey Bold</vt:lpstr>
      <vt:lpstr>RQND Pro Medium</vt:lpstr>
      <vt:lpstr>Poppins</vt:lpstr>
      <vt:lpstr>Arial</vt:lpstr>
      <vt:lpstr>Poppins Bold</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Futuristic Technology Presentation</dc:title>
  <dc:creator/>
  <cp:lastModifiedBy>AVNIS</cp:lastModifiedBy>
  <cp:revision>2</cp:revision>
  <dcterms:created xsi:type="dcterms:W3CDTF">2006-08-16T00:00:00Z</dcterms:created>
  <dcterms:modified xsi:type="dcterms:W3CDTF">2025-04-14T11:00:21Z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C6D0DA02349A461A90FD907B806B1264_12</vt:lpwstr>
  </property>
  <property fmtid="{D5CDD505-2E9C-101B-9397-08002B2CF9AE}" pid="3" name="KSOProductBuildVer">
    <vt:lpwstr>1033-12.2.0.20782</vt:lpwstr>
  </property>
</Properties>
</file>